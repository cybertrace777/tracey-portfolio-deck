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Barlow" pitchFamily="2" charset="77"/>
      <p:regular r:id="rId43"/>
      <p:bold r:id="rId44"/>
      <p:italic r:id="rId45"/>
      <p:boldItalic r:id="rId46"/>
    </p:embeddedFont>
    <p:embeddedFont>
      <p:font typeface="Barlow Light" panose="00000400000000000000" pitchFamily="2" charset="77"/>
      <p:regular r:id="rId47"/>
      <p:bold r:id="rId48"/>
      <p:italic r:id="rId49"/>
      <p:boldItalic r:id="rId50"/>
    </p:embeddedFont>
    <p:embeddedFont>
      <p:font typeface="Montserrat" pitchFamily="2" charset="77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1C7EFF-B079-44CD-85B6-E6D3598932AC}">
  <a:tblStyle styleId="{511C7EFF-B079-44CD-85B6-E6D3598932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CDC246-CD5F-43C5-B557-0B5EE2D386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5"/>
    <p:restoredTop sz="94696"/>
  </p:normalViewPr>
  <p:slideViewPr>
    <p:cSldViewPr snapToGrid="0" snapToObjects="1">
      <p:cViewPr varScale="1">
        <p:scale>
          <a:sx n="74" d="100"/>
          <a:sy n="74" d="100"/>
        </p:scale>
        <p:origin x="16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b72d1cf2b1_0_1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b72d1cf2b1_0_1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855300" y="1363125"/>
            <a:ext cx="5110800" cy="241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0" y="2550906"/>
            <a:ext cx="719125" cy="41700"/>
            <a:chOff x="0" y="2550906"/>
            <a:chExt cx="719125" cy="41700"/>
          </a:xfrm>
        </p:grpSpPr>
        <p:sp>
          <p:nvSpPr>
            <p:cNvPr id="14" name="Google Shape;14;p2"/>
            <p:cNvSpPr/>
            <p:nvPr/>
          </p:nvSpPr>
          <p:spPr>
            <a:xfrm>
              <a:off x="0" y="255090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06425" y="255090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855300" y="1534047"/>
            <a:ext cx="51108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855300" y="2714552"/>
            <a:ext cx="5110800" cy="4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0" y="2550906"/>
            <a:ext cx="719125" cy="41700"/>
            <a:chOff x="0" y="2550906"/>
            <a:chExt cx="719125" cy="41700"/>
          </a:xfrm>
        </p:grpSpPr>
        <p:sp>
          <p:nvSpPr>
            <p:cNvPr id="20" name="Google Shape;20;p3"/>
            <p:cNvSpPr/>
            <p:nvPr/>
          </p:nvSpPr>
          <p:spPr>
            <a:xfrm>
              <a:off x="0" y="255090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506425" y="255090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55300" y="2161800"/>
            <a:ext cx="5307000" cy="819900"/>
          </a:xfrm>
          <a:prstGeom prst="rect">
            <a:avLst/>
          </a:prstGeom>
          <a:effectLst>
            <a:outerShdw blurRad="14288" dist="9525" dir="16560000" algn="bl" rotWithShape="0">
              <a:schemeClr val="accent1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╸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‧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‧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●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○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■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●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419100" rtl="0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Barlow"/>
              <a:buChar char="○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419100" rtl="0"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3000"/>
              <a:buFont typeface="Barlow"/>
              <a:buChar char="■"/>
              <a:defRPr sz="3000" b="1" i="1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0" y="2550906"/>
            <a:ext cx="509100" cy="41700"/>
          </a:xfrm>
          <a:prstGeom prst="rect">
            <a:avLst/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06425" y="2550906"/>
            <a:ext cx="212700" cy="4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55300" y="1353948"/>
            <a:ext cx="53070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╸"/>
              <a:defRPr/>
            </a:lvl1pPr>
            <a:lvl2pPr marL="914400" lvl="1" indent="-381000" rtl="0">
              <a:spcBef>
                <a:spcPts val="800"/>
              </a:spcBef>
              <a:spcAft>
                <a:spcPts val="0"/>
              </a:spcAft>
              <a:buSzPts val="2400"/>
              <a:buChar char="‧"/>
              <a:defRPr/>
            </a:lvl2pPr>
            <a:lvl3pPr marL="1371600" lvl="2" indent="-381000" rtl="0">
              <a:spcBef>
                <a:spcPts val="800"/>
              </a:spcBef>
              <a:spcAft>
                <a:spcPts val="0"/>
              </a:spcAft>
              <a:buSzPts val="2400"/>
              <a:buChar char="‧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0" y="1120426"/>
            <a:ext cx="719125" cy="41709"/>
            <a:chOff x="0" y="1120426"/>
            <a:chExt cx="719125" cy="41709"/>
          </a:xfrm>
        </p:grpSpPr>
        <p:sp>
          <p:nvSpPr>
            <p:cNvPr id="32" name="Google Shape;32;p5"/>
            <p:cNvSpPr/>
            <p:nvPr/>
          </p:nvSpPr>
          <p:spPr>
            <a:xfrm>
              <a:off x="0" y="112042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06425" y="1120435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55275" y="1353950"/>
            <a:ext cx="24795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╸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‧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‧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3682698" y="1353950"/>
            <a:ext cx="24795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╸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‧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‧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" name="Google Shape;39;p6"/>
          <p:cNvGrpSpPr/>
          <p:nvPr/>
        </p:nvGrpSpPr>
        <p:grpSpPr>
          <a:xfrm>
            <a:off x="0" y="1120426"/>
            <a:ext cx="719125" cy="41709"/>
            <a:chOff x="0" y="1120426"/>
            <a:chExt cx="719125" cy="41709"/>
          </a:xfrm>
        </p:grpSpPr>
        <p:sp>
          <p:nvSpPr>
            <p:cNvPr id="40" name="Google Shape;40;p6"/>
            <p:cNvSpPr/>
            <p:nvPr/>
          </p:nvSpPr>
          <p:spPr>
            <a:xfrm>
              <a:off x="0" y="112042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506425" y="1120435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55300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╸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3414196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╸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5973091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╸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‧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0" y="1120426"/>
            <a:ext cx="719125" cy="41709"/>
            <a:chOff x="0" y="1120426"/>
            <a:chExt cx="719125" cy="41709"/>
          </a:xfrm>
        </p:grpSpPr>
        <p:sp>
          <p:nvSpPr>
            <p:cNvPr id="49" name="Google Shape;49;p7"/>
            <p:cNvSpPr/>
            <p:nvPr/>
          </p:nvSpPr>
          <p:spPr>
            <a:xfrm>
              <a:off x="0" y="112042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506425" y="1120435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1120426"/>
            <a:ext cx="719125" cy="41709"/>
            <a:chOff x="0" y="1120426"/>
            <a:chExt cx="719125" cy="41709"/>
          </a:xfrm>
        </p:grpSpPr>
        <p:sp>
          <p:nvSpPr>
            <p:cNvPr id="55" name="Google Shape;55;p8"/>
            <p:cNvSpPr/>
            <p:nvPr/>
          </p:nvSpPr>
          <p:spPr>
            <a:xfrm>
              <a:off x="0" y="112042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506425" y="1120435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55300" y="4406300"/>
            <a:ext cx="74334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80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0" name="Google Shape;60;p9"/>
          <p:cNvGrpSpPr/>
          <p:nvPr/>
        </p:nvGrpSpPr>
        <p:grpSpPr>
          <a:xfrm>
            <a:off x="0" y="4541156"/>
            <a:ext cx="719125" cy="41700"/>
            <a:chOff x="0" y="4541156"/>
            <a:chExt cx="719125" cy="41700"/>
          </a:xfrm>
        </p:grpSpPr>
        <p:sp>
          <p:nvSpPr>
            <p:cNvPr id="61" name="Google Shape;61;p9"/>
            <p:cNvSpPr/>
            <p:nvPr/>
          </p:nvSpPr>
          <p:spPr>
            <a:xfrm>
              <a:off x="0" y="454115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506425" y="454115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0"/>
          <p:cNvGrpSpPr/>
          <p:nvPr/>
        </p:nvGrpSpPr>
        <p:grpSpPr>
          <a:xfrm>
            <a:off x="0" y="2550906"/>
            <a:ext cx="719125" cy="41700"/>
            <a:chOff x="0" y="2550906"/>
            <a:chExt cx="719125" cy="41700"/>
          </a:xfrm>
        </p:grpSpPr>
        <p:sp>
          <p:nvSpPr>
            <p:cNvPr id="66" name="Google Shape;66;p10"/>
            <p:cNvSpPr/>
            <p:nvPr/>
          </p:nvSpPr>
          <p:spPr>
            <a:xfrm>
              <a:off x="0" y="255090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0"/>
            <p:cNvSpPr/>
            <p:nvPr/>
          </p:nvSpPr>
          <p:spPr>
            <a:xfrm>
              <a:off x="506425" y="255090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5"/>
            </a:gs>
            <a:gs pos="100000">
              <a:schemeClr val="accent6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"/>
              <a:buNone/>
              <a:defRPr sz="24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55300" y="1353948"/>
            <a:ext cx="53070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rlow Light"/>
              <a:buChar char="╸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rlow Light"/>
              <a:buChar char="‧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rlow Light"/>
              <a:buChar char="‧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●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○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■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●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Light"/>
              <a:buChar char="○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Barlow Light"/>
              <a:buChar char="■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 rtl="0">
              <a:buNone/>
              <a:defRPr sz="13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5096950"/>
            <a:ext cx="8719800" cy="46500"/>
          </a:xfrm>
          <a:prstGeom prst="rect">
            <a:avLst/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8693400" y="5096950"/>
            <a:ext cx="450600" cy="4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slidescarnival.com/copyright-and-legal-information" TargetMode="External"/><Relationship Id="rId4" Type="http://schemas.openxmlformats.org/officeDocument/2006/relationships/hyperlink" Target="http://www.slidescarnival.com/help-use-presentation-template" TargetMode="Externa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slide10_dashboard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hyperlink" Target="https://www.slidescarnival.com/extra-free-resources-icons-and-maps/?utm_source=templat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slide20_image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slide21_image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slide22_image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ctrTitle"/>
          </p:nvPr>
        </p:nvSpPr>
        <p:spPr>
          <a:xfrm>
            <a:off x="855300" y="1363125"/>
            <a:ext cx="5110800" cy="241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 xml:space="preserve">TRACEY </a:t>
            </a:r>
            <a:r>
              <a:rPr lang="en">
                <a:solidFill>
                  <a:schemeClr val="accent1"/>
                </a:solidFill>
              </a:rPr>
              <a:t>SCOTT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7B26CBDF-DC18-0E4C-98B9-BDF97A5A70BC}"/>
              </a:ext>
            </a:extLst>
          </p:cNvPr>
          <p:cNvGrpSpPr/>
          <p:nvPr/>
        </p:nvGrpSpPr>
        <p:grpSpPr>
          <a:xfrm>
            <a:off x="5060948" y="-588552"/>
            <a:ext cx="3569633" cy="5559504"/>
            <a:chOff x="1019213" y="3964719"/>
            <a:chExt cx="438896" cy="683556"/>
          </a:xfrm>
        </p:grpSpPr>
        <p:sp>
          <p:nvSpPr>
            <p:cNvPr id="62" name="Google Shape;1271;p46">
              <a:extLst>
                <a:ext uri="{FF2B5EF4-FFF2-40B4-BE49-F238E27FC236}">
                  <a16:creationId xmlns:a16="http://schemas.microsoft.com/office/drawing/2014/main" id="{77F5EF97-915B-B742-98FE-5669BAF437C0}"/>
                </a:ext>
              </a:extLst>
            </p:cNvPr>
            <p:cNvSpPr/>
            <p:nvPr/>
          </p:nvSpPr>
          <p:spPr>
            <a:xfrm>
              <a:off x="1180677" y="3964719"/>
              <a:ext cx="57630" cy="327278"/>
            </a:xfrm>
            <a:custGeom>
              <a:avLst/>
              <a:gdLst/>
              <a:ahLst/>
              <a:cxnLst/>
              <a:rect l="l" t="t" r="r" b="b"/>
              <a:pathLst>
                <a:path w="576302" h="3272780" extrusionOk="0">
                  <a:moveTo>
                    <a:pt x="82123" y="11123"/>
                  </a:moveTo>
                  <a:cubicBezTo>
                    <a:pt x="127507" y="37030"/>
                    <a:pt x="163526" y="100357"/>
                    <a:pt x="163526" y="152169"/>
                  </a:cubicBezTo>
                  <a:lnTo>
                    <a:pt x="163526" y="1542480"/>
                  </a:lnTo>
                  <a:lnTo>
                    <a:pt x="576303" y="1780675"/>
                  </a:lnTo>
                  <a:lnTo>
                    <a:pt x="576303" y="3214882"/>
                  </a:lnTo>
                  <a:cubicBezTo>
                    <a:pt x="576303" y="3266695"/>
                    <a:pt x="539563" y="3287564"/>
                    <a:pt x="494900" y="3261657"/>
                  </a:cubicBezTo>
                  <a:cubicBezTo>
                    <a:pt x="449516" y="3235751"/>
                    <a:pt x="413497" y="3172424"/>
                    <a:pt x="413497" y="3120611"/>
                  </a:cubicBezTo>
                  <a:lnTo>
                    <a:pt x="413497" y="1874226"/>
                  </a:lnTo>
                  <a:lnTo>
                    <a:pt x="0" y="1636750"/>
                  </a:lnTo>
                  <a:lnTo>
                    <a:pt x="0" y="57899"/>
                  </a:lnTo>
                  <a:cubicBezTo>
                    <a:pt x="0" y="6086"/>
                    <a:pt x="36739" y="-14783"/>
                    <a:pt x="82123" y="1112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272;p46">
              <a:extLst>
                <a:ext uri="{FF2B5EF4-FFF2-40B4-BE49-F238E27FC236}">
                  <a16:creationId xmlns:a16="http://schemas.microsoft.com/office/drawing/2014/main" id="{3B55732B-23AE-0445-9915-9F2B0547BFCF}"/>
                </a:ext>
              </a:extLst>
            </p:cNvPr>
            <p:cNvSpPr/>
            <p:nvPr/>
          </p:nvSpPr>
          <p:spPr>
            <a:xfrm>
              <a:off x="1203159" y="4438020"/>
              <a:ext cx="57558" cy="169609"/>
            </a:xfrm>
            <a:custGeom>
              <a:avLst/>
              <a:gdLst/>
              <a:ahLst/>
              <a:cxnLst/>
              <a:rect l="l" t="t" r="r" b="b"/>
              <a:pathLst>
                <a:path w="575582" h="1696088" extrusionOk="0">
                  <a:moveTo>
                    <a:pt x="81403" y="1684965"/>
                  </a:moveTo>
                  <a:cubicBezTo>
                    <a:pt x="126787" y="1710871"/>
                    <a:pt x="162806" y="1690002"/>
                    <a:pt x="162806" y="1638189"/>
                  </a:cubicBezTo>
                  <a:lnTo>
                    <a:pt x="162806" y="596176"/>
                  </a:lnTo>
                  <a:lnTo>
                    <a:pt x="575582" y="834371"/>
                  </a:lnTo>
                  <a:lnTo>
                    <a:pt x="575582" y="152169"/>
                  </a:lnTo>
                  <a:cubicBezTo>
                    <a:pt x="575582" y="100356"/>
                    <a:pt x="538843" y="37030"/>
                    <a:pt x="494179" y="11124"/>
                  </a:cubicBezTo>
                  <a:cubicBezTo>
                    <a:pt x="448795" y="-14783"/>
                    <a:pt x="412777" y="6086"/>
                    <a:pt x="412777" y="57899"/>
                  </a:cubicBezTo>
                  <a:lnTo>
                    <a:pt x="412777" y="552280"/>
                  </a:lnTo>
                  <a:lnTo>
                    <a:pt x="0" y="314084"/>
                  </a:lnTo>
                  <a:lnTo>
                    <a:pt x="0" y="1543919"/>
                  </a:lnTo>
                  <a:cubicBezTo>
                    <a:pt x="0" y="1595732"/>
                    <a:pt x="36739" y="1659059"/>
                    <a:pt x="81403" y="168496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273;p46">
              <a:extLst>
                <a:ext uri="{FF2B5EF4-FFF2-40B4-BE49-F238E27FC236}">
                  <a16:creationId xmlns:a16="http://schemas.microsoft.com/office/drawing/2014/main" id="{3B9CF58F-FBB0-A84E-9F2D-09E8680C81E4}"/>
                </a:ext>
              </a:extLst>
            </p:cNvPr>
            <p:cNvSpPr/>
            <p:nvPr/>
          </p:nvSpPr>
          <p:spPr>
            <a:xfrm>
              <a:off x="1266437" y="4020885"/>
              <a:ext cx="16281" cy="257547"/>
            </a:xfrm>
            <a:custGeom>
              <a:avLst/>
              <a:gdLst/>
              <a:ahLst/>
              <a:cxnLst/>
              <a:rect l="l" t="t" r="r" b="b"/>
              <a:pathLst>
                <a:path w="162805" h="2575466" extrusionOk="0">
                  <a:moveTo>
                    <a:pt x="81403" y="11123"/>
                  </a:moveTo>
                  <a:cubicBezTo>
                    <a:pt x="126787" y="37030"/>
                    <a:pt x="162806" y="100357"/>
                    <a:pt x="162806" y="152169"/>
                  </a:cubicBezTo>
                  <a:lnTo>
                    <a:pt x="162806" y="2517568"/>
                  </a:lnTo>
                  <a:cubicBezTo>
                    <a:pt x="162806" y="2569381"/>
                    <a:pt x="126066" y="2590250"/>
                    <a:pt x="81403" y="2564343"/>
                  </a:cubicBezTo>
                  <a:cubicBezTo>
                    <a:pt x="36019" y="2538437"/>
                    <a:pt x="0" y="2475110"/>
                    <a:pt x="0" y="2423297"/>
                  </a:cubicBezTo>
                  <a:lnTo>
                    <a:pt x="0" y="57899"/>
                  </a:lnTo>
                  <a:cubicBezTo>
                    <a:pt x="0" y="6086"/>
                    <a:pt x="36739" y="-14783"/>
                    <a:pt x="81403" y="1112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274;p46">
              <a:extLst>
                <a:ext uri="{FF2B5EF4-FFF2-40B4-BE49-F238E27FC236}">
                  <a16:creationId xmlns:a16="http://schemas.microsoft.com/office/drawing/2014/main" id="{1325D2DD-A517-4B41-AB4D-5CA2069C4208}"/>
                </a:ext>
              </a:extLst>
            </p:cNvPr>
            <p:cNvSpPr/>
            <p:nvPr/>
          </p:nvSpPr>
          <p:spPr>
            <a:xfrm>
              <a:off x="1191235" y="4555583"/>
              <a:ext cx="37316" cy="55944"/>
            </a:xfrm>
            <a:custGeom>
              <a:avLst/>
              <a:gdLst/>
              <a:ahLst/>
              <a:cxnLst/>
              <a:rect l="l" t="t" r="r" b="b"/>
              <a:pathLst>
                <a:path w="373155" h="559444" extrusionOk="0">
                  <a:moveTo>
                    <a:pt x="373156" y="387306"/>
                  </a:moveTo>
                  <a:cubicBezTo>
                    <a:pt x="373156" y="529791"/>
                    <a:pt x="289592" y="597436"/>
                    <a:pt x="186578" y="537707"/>
                  </a:cubicBezTo>
                  <a:cubicBezTo>
                    <a:pt x="83564" y="478698"/>
                    <a:pt x="0" y="314624"/>
                    <a:pt x="0" y="172139"/>
                  </a:cubicBezTo>
                  <a:cubicBezTo>
                    <a:pt x="0" y="29653"/>
                    <a:pt x="83564" y="-37991"/>
                    <a:pt x="186578" y="21738"/>
                  </a:cubicBezTo>
                  <a:cubicBezTo>
                    <a:pt x="289592" y="80747"/>
                    <a:pt x="373156" y="244821"/>
                    <a:pt x="373156" y="3873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275;p46">
              <a:extLst>
                <a:ext uri="{FF2B5EF4-FFF2-40B4-BE49-F238E27FC236}">
                  <a16:creationId xmlns:a16="http://schemas.microsoft.com/office/drawing/2014/main" id="{6C3E58E2-DF2C-D847-85B6-CF08285671EE}"/>
                </a:ext>
              </a:extLst>
            </p:cNvPr>
            <p:cNvSpPr/>
            <p:nvPr/>
          </p:nvSpPr>
          <p:spPr>
            <a:xfrm>
              <a:off x="1315853" y="4184741"/>
              <a:ext cx="57558" cy="153705"/>
            </a:xfrm>
            <a:custGeom>
              <a:avLst/>
              <a:gdLst/>
              <a:ahLst/>
              <a:cxnLst/>
              <a:rect l="l" t="t" r="r" b="b"/>
              <a:pathLst>
                <a:path w="575582" h="1537051" extrusionOk="0">
                  <a:moveTo>
                    <a:pt x="494179" y="11123"/>
                  </a:moveTo>
                  <a:cubicBezTo>
                    <a:pt x="448796" y="-14783"/>
                    <a:pt x="412777" y="6086"/>
                    <a:pt x="412777" y="57899"/>
                  </a:cubicBezTo>
                  <a:lnTo>
                    <a:pt x="412777" y="760250"/>
                  </a:lnTo>
                  <a:lnTo>
                    <a:pt x="0" y="522055"/>
                  </a:lnTo>
                  <a:lnTo>
                    <a:pt x="0" y="1384882"/>
                  </a:lnTo>
                  <a:cubicBezTo>
                    <a:pt x="0" y="1436695"/>
                    <a:pt x="36739" y="1500022"/>
                    <a:pt x="81403" y="1525928"/>
                  </a:cubicBezTo>
                  <a:cubicBezTo>
                    <a:pt x="126787" y="1551835"/>
                    <a:pt x="162806" y="1530966"/>
                    <a:pt x="162806" y="1479153"/>
                  </a:cubicBezTo>
                  <a:lnTo>
                    <a:pt x="162806" y="804147"/>
                  </a:lnTo>
                  <a:lnTo>
                    <a:pt x="575582" y="1042342"/>
                  </a:lnTo>
                  <a:lnTo>
                    <a:pt x="575582" y="152169"/>
                  </a:lnTo>
                  <a:cubicBezTo>
                    <a:pt x="575582" y="100357"/>
                    <a:pt x="538843" y="37030"/>
                    <a:pt x="494179" y="1112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276;p46">
              <a:extLst>
                <a:ext uri="{FF2B5EF4-FFF2-40B4-BE49-F238E27FC236}">
                  <a16:creationId xmlns:a16="http://schemas.microsoft.com/office/drawing/2014/main" id="{0031A356-4BE9-7048-B09A-849D92D1FB3B}"/>
                </a:ext>
              </a:extLst>
            </p:cNvPr>
            <p:cNvSpPr/>
            <p:nvPr/>
          </p:nvSpPr>
          <p:spPr>
            <a:xfrm>
              <a:off x="1346594" y="4172474"/>
              <a:ext cx="36883" cy="55252"/>
            </a:xfrm>
            <a:custGeom>
              <a:avLst/>
              <a:gdLst/>
              <a:ahLst/>
              <a:cxnLst/>
              <a:rect l="l" t="t" r="r" b="b"/>
              <a:pathLst>
                <a:path w="368833" h="552522" extrusionOk="0">
                  <a:moveTo>
                    <a:pt x="368833" y="382406"/>
                  </a:moveTo>
                  <a:cubicBezTo>
                    <a:pt x="368833" y="523451"/>
                    <a:pt x="285990" y="589657"/>
                    <a:pt x="184417" y="531367"/>
                  </a:cubicBezTo>
                  <a:cubicBezTo>
                    <a:pt x="82843" y="472358"/>
                    <a:pt x="0" y="311163"/>
                    <a:pt x="0" y="170117"/>
                  </a:cubicBezTo>
                  <a:cubicBezTo>
                    <a:pt x="0" y="29071"/>
                    <a:pt x="82123" y="-37134"/>
                    <a:pt x="184417" y="21155"/>
                  </a:cubicBezTo>
                  <a:cubicBezTo>
                    <a:pt x="286710" y="80164"/>
                    <a:pt x="368833" y="241360"/>
                    <a:pt x="368833" y="382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277;p46">
              <a:extLst>
                <a:ext uri="{FF2B5EF4-FFF2-40B4-BE49-F238E27FC236}">
                  <a16:creationId xmlns:a16="http://schemas.microsoft.com/office/drawing/2014/main" id="{57A334E3-FA10-6543-AECA-90CA810F6995}"/>
                </a:ext>
              </a:extLst>
            </p:cNvPr>
            <p:cNvSpPr/>
            <p:nvPr/>
          </p:nvSpPr>
          <p:spPr>
            <a:xfrm>
              <a:off x="1300195" y="4426721"/>
              <a:ext cx="144076" cy="148308"/>
            </a:xfrm>
            <a:custGeom>
              <a:avLst/>
              <a:gdLst/>
              <a:ahLst/>
              <a:cxnLst/>
              <a:rect l="l" t="t" r="r" b="b"/>
              <a:pathLst>
                <a:path w="1440755" h="1483080" extrusionOk="0">
                  <a:moveTo>
                    <a:pt x="1440756" y="1425181"/>
                  </a:moveTo>
                  <a:cubicBezTo>
                    <a:pt x="1440756" y="1373368"/>
                    <a:pt x="1404017" y="1310042"/>
                    <a:pt x="1359353" y="1284135"/>
                  </a:cubicBezTo>
                  <a:lnTo>
                    <a:pt x="718217" y="914250"/>
                  </a:lnTo>
                  <a:lnTo>
                    <a:pt x="718217" y="378131"/>
                  </a:lnTo>
                  <a:lnTo>
                    <a:pt x="81403" y="11124"/>
                  </a:lnTo>
                  <a:cubicBezTo>
                    <a:pt x="36019" y="-14783"/>
                    <a:pt x="0" y="6086"/>
                    <a:pt x="0" y="57899"/>
                  </a:cubicBezTo>
                  <a:cubicBezTo>
                    <a:pt x="0" y="109711"/>
                    <a:pt x="36739" y="173039"/>
                    <a:pt x="81403" y="198945"/>
                  </a:cubicBezTo>
                  <a:lnTo>
                    <a:pt x="555412" y="472401"/>
                  </a:lnTo>
                  <a:lnTo>
                    <a:pt x="555412" y="1008520"/>
                  </a:lnTo>
                  <a:lnTo>
                    <a:pt x="1360074" y="1471957"/>
                  </a:lnTo>
                  <a:cubicBezTo>
                    <a:pt x="1404737" y="1497863"/>
                    <a:pt x="1440756" y="1476994"/>
                    <a:pt x="1440756" y="142518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278;p46">
              <a:extLst>
                <a:ext uri="{FF2B5EF4-FFF2-40B4-BE49-F238E27FC236}">
                  <a16:creationId xmlns:a16="http://schemas.microsoft.com/office/drawing/2014/main" id="{97318C7F-80D3-B04E-B9EB-E131520920F4}"/>
                </a:ext>
              </a:extLst>
            </p:cNvPr>
            <p:cNvSpPr/>
            <p:nvPr/>
          </p:nvSpPr>
          <p:spPr>
            <a:xfrm>
              <a:off x="1281448" y="4456718"/>
              <a:ext cx="16281" cy="191557"/>
            </a:xfrm>
            <a:custGeom>
              <a:avLst/>
              <a:gdLst/>
              <a:ahLst/>
              <a:cxnLst/>
              <a:rect l="l" t="t" r="r" b="b"/>
              <a:pathLst>
                <a:path w="162805" h="1915573" extrusionOk="0">
                  <a:moveTo>
                    <a:pt x="81403" y="1904450"/>
                  </a:moveTo>
                  <a:cubicBezTo>
                    <a:pt x="36019" y="1878543"/>
                    <a:pt x="0" y="1815217"/>
                    <a:pt x="0" y="1763404"/>
                  </a:cubicBezTo>
                  <a:lnTo>
                    <a:pt x="0" y="57899"/>
                  </a:lnTo>
                  <a:cubicBezTo>
                    <a:pt x="0" y="6086"/>
                    <a:pt x="36739" y="-14783"/>
                    <a:pt x="81403" y="11124"/>
                  </a:cubicBezTo>
                  <a:cubicBezTo>
                    <a:pt x="126787" y="37030"/>
                    <a:pt x="162806" y="100356"/>
                    <a:pt x="162806" y="152169"/>
                  </a:cubicBezTo>
                  <a:lnTo>
                    <a:pt x="162806" y="1857674"/>
                  </a:lnTo>
                  <a:cubicBezTo>
                    <a:pt x="162806" y="1909487"/>
                    <a:pt x="126066" y="1930356"/>
                    <a:pt x="81403" y="19044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279;p46">
              <a:extLst>
                <a:ext uri="{FF2B5EF4-FFF2-40B4-BE49-F238E27FC236}">
                  <a16:creationId xmlns:a16="http://schemas.microsoft.com/office/drawing/2014/main" id="{AF3C7D5E-8182-1048-84FB-D760F9894C40}"/>
                </a:ext>
              </a:extLst>
            </p:cNvPr>
            <p:cNvSpPr/>
            <p:nvPr/>
          </p:nvSpPr>
          <p:spPr>
            <a:xfrm>
              <a:off x="1416552" y="4536391"/>
              <a:ext cx="37316" cy="55944"/>
            </a:xfrm>
            <a:custGeom>
              <a:avLst/>
              <a:gdLst/>
              <a:ahLst/>
              <a:cxnLst/>
              <a:rect l="l" t="t" r="r" b="b"/>
              <a:pathLst>
                <a:path w="373156" h="559444" extrusionOk="0">
                  <a:moveTo>
                    <a:pt x="373156" y="387306"/>
                  </a:moveTo>
                  <a:cubicBezTo>
                    <a:pt x="373156" y="529791"/>
                    <a:pt x="289592" y="597436"/>
                    <a:pt x="186578" y="537707"/>
                  </a:cubicBezTo>
                  <a:cubicBezTo>
                    <a:pt x="83564" y="478698"/>
                    <a:pt x="0" y="314624"/>
                    <a:pt x="0" y="172139"/>
                  </a:cubicBezTo>
                  <a:cubicBezTo>
                    <a:pt x="0" y="29653"/>
                    <a:pt x="83564" y="-37991"/>
                    <a:pt x="186578" y="21738"/>
                  </a:cubicBezTo>
                  <a:cubicBezTo>
                    <a:pt x="289592" y="80747"/>
                    <a:pt x="373156" y="244821"/>
                    <a:pt x="373156" y="3873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280;p46">
              <a:extLst>
                <a:ext uri="{FF2B5EF4-FFF2-40B4-BE49-F238E27FC236}">
                  <a16:creationId xmlns:a16="http://schemas.microsoft.com/office/drawing/2014/main" id="{489ABFCD-B008-B140-8676-E86D86EDD9EF}"/>
                </a:ext>
              </a:extLst>
            </p:cNvPr>
            <p:cNvSpPr/>
            <p:nvPr/>
          </p:nvSpPr>
          <p:spPr>
            <a:xfrm>
              <a:off x="1055916" y="4289546"/>
              <a:ext cx="117277" cy="284682"/>
            </a:xfrm>
            <a:custGeom>
              <a:avLst/>
              <a:gdLst/>
              <a:ahLst/>
              <a:cxnLst/>
              <a:rect l="l" t="t" r="r" b="b"/>
              <a:pathLst>
                <a:path w="1172775" h="2846825" extrusionOk="0">
                  <a:moveTo>
                    <a:pt x="0" y="0"/>
                  </a:moveTo>
                  <a:lnTo>
                    <a:pt x="1172776" y="676445"/>
                  </a:lnTo>
                  <a:lnTo>
                    <a:pt x="1172776" y="2846826"/>
                  </a:lnTo>
                  <a:lnTo>
                    <a:pt x="0" y="217038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281;p46">
              <a:extLst>
                <a:ext uri="{FF2B5EF4-FFF2-40B4-BE49-F238E27FC236}">
                  <a16:creationId xmlns:a16="http://schemas.microsoft.com/office/drawing/2014/main" id="{40AABA68-FEAE-794F-B35A-7BF2188FDF1D}"/>
                </a:ext>
              </a:extLst>
            </p:cNvPr>
            <p:cNvSpPr/>
            <p:nvPr/>
          </p:nvSpPr>
          <p:spPr>
            <a:xfrm>
              <a:off x="1074447" y="4427185"/>
              <a:ext cx="69877" cy="48862"/>
            </a:xfrm>
            <a:custGeom>
              <a:avLst/>
              <a:gdLst/>
              <a:ahLst/>
              <a:cxnLst/>
              <a:rect l="l" t="t" r="r" b="b"/>
              <a:pathLst>
                <a:path w="698766" h="488623" extrusionOk="0">
                  <a:moveTo>
                    <a:pt x="0" y="0"/>
                  </a:moveTo>
                  <a:lnTo>
                    <a:pt x="698767" y="402988"/>
                  </a:lnTo>
                  <a:lnTo>
                    <a:pt x="698767" y="488624"/>
                  </a:lnTo>
                  <a:lnTo>
                    <a:pt x="0" y="85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282;p46">
              <a:extLst>
                <a:ext uri="{FF2B5EF4-FFF2-40B4-BE49-F238E27FC236}">
                  <a16:creationId xmlns:a16="http://schemas.microsoft.com/office/drawing/2014/main" id="{85934EB1-44EA-214D-8F6A-5FA636F66F35}"/>
                </a:ext>
              </a:extLst>
            </p:cNvPr>
            <p:cNvSpPr/>
            <p:nvPr/>
          </p:nvSpPr>
          <p:spPr>
            <a:xfrm>
              <a:off x="1081701" y="4448211"/>
              <a:ext cx="55397" cy="40515"/>
            </a:xfrm>
            <a:custGeom>
              <a:avLst/>
              <a:gdLst/>
              <a:ahLst/>
              <a:cxnLst/>
              <a:rect l="l" t="t" r="r" b="b"/>
              <a:pathLst>
                <a:path w="553970" h="405147" extrusionOk="0">
                  <a:moveTo>
                    <a:pt x="0" y="0"/>
                  </a:moveTo>
                  <a:lnTo>
                    <a:pt x="553971" y="319512"/>
                  </a:lnTo>
                  <a:lnTo>
                    <a:pt x="553971" y="405147"/>
                  </a:lnTo>
                  <a:lnTo>
                    <a:pt x="0" y="85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283;p46">
              <a:extLst>
                <a:ext uri="{FF2B5EF4-FFF2-40B4-BE49-F238E27FC236}">
                  <a16:creationId xmlns:a16="http://schemas.microsoft.com/office/drawing/2014/main" id="{1EA2C423-6846-214B-8C65-916692D3A30E}"/>
                </a:ext>
              </a:extLst>
            </p:cNvPr>
            <p:cNvSpPr/>
            <p:nvPr/>
          </p:nvSpPr>
          <p:spPr>
            <a:xfrm>
              <a:off x="1019213" y="4439815"/>
              <a:ext cx="81619" cy="71314"/>
            </a:xfrm>
            <a:custGeom>
              <a:avLst/>
              <a:gdLst/>
              <a:ahLst/>
              <a:cxnLst/>
              <a:rect l="l" t="t" r="r" b="b"/>
              <a:pathLst>
                <a:path w="816188" h="713145" extrusionOk="0">
                  <a:moveTo>
                    <a:pt x="815468" y="470633"/>
                  </a:moveTo>
                  <a:lnTo>
                    <a:pt x="0" y="0"/>
                  </a:lnTo>
                  <a:lnTo>
                    <a:pt x="0" y="242513"/>
                  </a:lnTo>
                  <a:lnTo>
                    <a:pt x="816188" y="713146"/>
                  </a:lnTo>
                  <a:lnTo>
                    <a:pt x="815468" y="47063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284;p46">
              <a:extLst>
                <a:ext uri="{FF2B5EF4-FFF2-40B4-BE49-F238E27FC236}">
                  <a16:creationId xmlns:a16="http://schemas.microsoft.com/office/drawing/2014/main" id="{625D4181-8B66-B44E-9D8A-09DB75CA8799}"/>
                </a:ext>
              </a:extLst>
            </p:cNvPr>
            <p:cNvSpPr/>
            <p:nvPr/>
          </p:nvSpPr>
          <p:spPr>
            <a:xfrm>
              <a:off x="1087088" y="4366761"/>
              <a:ext cx="52804" cy="26266"/>
            </a:xfrm>
            <a:custGeom>
              <a:avLst/>
              <a:gdLst/>
              <a:ahLst/>
              <a:cxnLst/>
              <a:rect l="l" t="t" r="r" b="b"/>
              <a:pathLst>
                <a:path w="528037" h="262662" extrusionOk="0">
                  <a:moveTo>
                    <a:pt x="528037" y="118738"/>
                  </a:moveTo>
                  <a:lnTo>
                    <a:pt x="345781" y="262662"/>
                  </a:lnTo>
                  <a:lnTo>
                    <a:pt x="223317" y="105785"/>
                  </a:lnTo>
                  <a:lnTo>
                    <a:pt x="63393" y="243952"/>
                  </a:lnTo>
                  <a:lnTo>
                    <a:pt x="0" y="197896"/>
                  </a:lnTo>
                  <a:lnTo>
                    <a:pt x="235564" y="0"/>
                  </a:lnTo>
                  <a:lnTo>
                    <a:pt x="355146" y="156878"/>
                  </a:lnTo>
                  <a:lnTo>
                    <a:pt x="486976" y="59009"/>
                  </a:lnTo>
                  <a:lnTo>
                    <a:pt x="528037" y="118738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285;p46">
              <a:extLst>
                <a:ext uri="{FF2B5EF4-FFF2-40B4-BE49-F238E27FC236}">
                  <a16:creationId xmlns:a16="http://schemas.microsoft.com/office/drawing/2014/main" id="{AC80E4E8-E650-2A41-A6F4-34417C82D4ED}"/>
                </a:ext>
              </a:extLst>
            </p:cNvPr>
            <p:cNvSpPr/>
            <p:nvPr/>
          </p:nvSpPr>
          <p:spPr>
            <a:xfrm>
              <a:off x="1132267" y="4356275"/>
              <a:ext cx="21179" cy="31825"/>
            </a:xfrm>
            <a:custGeom>
              <a:avLst/>
              <a:gdLst/>
              <a:ahLst/>
              <a:cxnLst/>
              <a:rect l="l" t="t" r="r" b="b"/>
              <a:pathLst>
                <a:path w="211791" h="318255" extrusionOk="0">
                  <a:moveTo>
                    <a:pt x="211791" y="220296"/>
                  </a:moveTo>
                  <a:cubicBezTo>
                    <a:pt x="211791" y="301613"/>
                    <a:pt x="164246" y="339753"/>
                    <a:pt x="105896" y="305931"/>
                  </a:cubicBezTo>
                  <a:cubicBezTo>
                    <a:pt x="47545" y="272109"/>
                    <a:pt x="0" y="179277"/>
                    <a:pt x="0" y="97960"/>
                  </a:cubicBezTo>
                  <a:cubicBezTo>
                    <a:pt x="0" y="16643"/>
                    <a:pt x="47545" y="-21497"/>
                    <a:pt x="105896" y="12325"/>
                  </a:cubicBezTo>
                  <a:cubicBezTo>
                    <a:pt x="164246" y="46147"/>
                    <a:pt x="211791" y="139698"/>
                    <a:pt x="211791" y="220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286;p46">
              <a:extLst>
                <a:ext uri="{FF2B5EF4-FFF2-40B4-BE49-F238E27FC236}">
                  <a16:creationId xmlns:a16="http://schemas.microsoft.com/office/drawing/2014/main" id="{CFE2CFDB-33DD-5342-9AE8-FE8201DFF3AB}"/>
                </a:ext>
              </a:extLst>
            </p:cNvPr>
            <p:cNvSpPr/>
            <p:nvPr/>
          </p:nvSpPr>
          <p:spPr>
            <a:xfrm>
              <a:off x="1077823" y="4371919"/>
              <a:ext cx="21179" cy="31825"/>
            </a:xfrm>
            <a:custGeom>
              <a:avLst/>
              <a:gdLst/>
              <a:ahLst/>
              <a:cxnLst/>
              <a:rect l="l" t="t" r="r" b="b"/>
              <a:pathLst>
                <a:path w="211791" h="318255" extrusionOk="0">
                  <a:moveTo>
                    <a:pt x="211791" y="220296"/>
                  </a:moveTo>
                  <a:cubicBezTo>
                    <a:pt x="211791" y="301613"/>
                    <a:pt x="164246" y="339753"/>
                    <a:pt x="105896" y="305931"/>
                  </a:cubicBezTo>
                  <a:cubicBezTo>
                    <a:pt x="47545" y="272109"/>
                    <a:pt x="0" y="179278"/>
                    <a:pt x="0" y="97960"/>
                  </a:cubicBezTo>
                  <a:cubicBezTo>
                    <a:pt x="0" y="16643"/>
                    <a:pt x="47545" y="-21497"/>
                    <a:pt x="105896" y="12325"/>
                  </a:cubicBezTo>
                  <a:cubicBezTo>
                    <a:pt x="164246" y="46147"/>
                    <a:pt x="211791" y="138978"/>
                    <a:pt x="211791" y="220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287;p46">
              <a:extLst>
                <a:ext uri="{FF2B5EF4-FFF2-40B4-BE49-F238E27FC236}">
                  <a16:creationId xmlns:a16="http://schemas.microsoft.com/office/drawing/2014/main" id="{6772935E-2B6A-5849-B5B9-D5250B4150F2}"/>
                </a:ext>
              </a:extLst>
            </p:cNvPr>
            <p:cNvSpPr/>
            <p:nvPr/>
          </p:nvSpPr>
          <p:spPr>
            <a:xfrm>
              <a:off x="1346594" y="4366905"/>
              <a:ext cx="111515" cy="122336"/>
            </a:xfrm>
            <a:custGeom>
              <a:avLst/>
              <a:gdLst/>
              <a:ahLst/>
              <a:cxnLst/>
              <a:rect l="l" t="t" r="r" b="b"/>
              <a:pathLst>
                <a:path w="1115145" h="1223357" extrusionOk="0">
                  <a:moveTo>
                    <a:pt x="1115145" y="643342"/>
                  </a:moveTo>
                  <a:lnTo>
                    <a:pt x="0" y="0"/>
                  </a:lnTo>
                  <a:lnTo>
                    <a:pt x="0" y="580015"/>
                  </a:lnTo>
                  <a:lnTo>
                    <a:pt x="1115145" y="1223358"/>
                  </a:lnTo>
                  <a:lnTo>
                    <a:pt x="1115145" y="643342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288;p46">
              <a:extLst>
                <a:ext uri="{FF2B5EF4-FFF2-40B4-BE49-F238E27FC236}">
                  <a16:creationId xmlns:a16="http://schemas.microsoft.com/office/drawing/2014/main" id="{741D63C1-626A-0341-9F13-21C6353BC368}"/>
                </a:ext>
              </a:extLst>
            </p:cNvPr>
            <p:cNvSpPr/>
            <p:nvPr/>
          </p:nvSpPr>
          <p:spPr>
            <a:xfrm>
              <a:off x="1375037" y="4397332"/>
              <a:ext cx="33570" cy="26338"/>
            </a:xfrm>
            <a:custGeom>
              <a:avLst/>
              <a:gdLst/>
              <a:ahLst/>
              <a:cxnLst/>
              <a:rect l="l" t="t" r="r" b="b"/>
              <a:pathLst>
                <a:path w="335696" h="263381" extrusionOk="0">
                  <a:moveTo>
                    <a:pt x="0" y="0"/>
                  </a:moveTo>
                  <a:lnTo>
                    <a:pt x="335696" y="193578"/>
                  </a:lnTo>
                  <a:lnTo>
                    <a:pt x="335696" y="263382"/>
                  </a:lnTo>
                  <a:lnTo>
                    <a:pt x="0" y="6908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289;p46">
              <a:extLst>
                <a:ext uri="{FF2B5EF4-FFF2-40B4-BE49-F238E27FC236}">
                  <a16:creationId xmlns:a16="http://schemas.microsoft.com/office/drawing/2014/main" id="{7E6F248C-307D-CE4B-AB08-C47A7EE2C7E1}"/>
                </a:ext>
              </a:extLst>
            </p:cNvPr>
            <p:cNvSpPr/>
            <p:nvPr/>
          </p:nvSpPr>
          <p:spPr>
            <a:xfrm>
              <a:off x="1375109" y="4411254"/>
              <a:ext cx="71461" cy="48215"/>
            </a:xfrm>
            <a:custGeom>
              <a:avLst/>
              <a:gdLst/>
              <a:ahLst/>
              <a:cxnLst/>
              <a:rect l="l" t="t" r="r" b="b"/>
              <a:pathLst>
                <a:path w="714614" h="482146" extrusionOk="0">
                  <a:moveTo>
                    <a:pt x="0" y="0"/>
                  </a:moveTo>
                  <a:lnTo>
                    <a:pt x="714615" y="411624"/>
                  </a:lnTo>
                  <a:lnTo>
                    <a:pt x="714615" y="482147"/>
                  </a:lnTo>
                  <a:lnTo>
                    <a:pt x="0" y="70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290;p46">
              <a:extLst>
                <a:ext uri="{FF2B5EF4-FFF2-40B4-BE49-F238E27FC236}">
                  <a16:creationId xmlns:a16="http://schemas.microsoft.com/office/drawing/2014/main" id="{17FB26FF-1659-C44E-B94D-2B343B1D577A}"/>
                </a:ext>
              </a:extLst>
            </p:cNvPr>
            <p:cNvSpPr/>
            <p:nvPr/>
          </p:nvSpPr>
          <p:spPr>
            <a:xfrm>
              <a:off x="1356578" y="4386341"/>
              <a:ext cx="12679" cy="18805"/>
            </a:xfrm>
            <a:custGeom>
              <a:avLst/>
              <a:gdLst/>
              <a:ahLst/>
              <a:cxnLst/>
              <a:rect l="l" t="t" r="r" b="b"/>
              <a:pathLst>
                <a:path w="126786" h="188049" extrusionOk="0">
                  <a:moveTo>
                    <a:pt x="126787" y="130366"/>
                  </a:moveTo>
                  <a:cubicBezTo>
                    <a:pt x="126787" y="177861"/>
                    <a:pt x="98692" y="200889"/>
                    <a:pt x="63393" y="180739"/>
                  </a:cubicBezTo>
                  <a:cubicBezTo>
                    <a:pt x="28095" y="160590"/>
                    <a:pt x="0" y="105179"/>
                    <a:pt x="0" y="57684"/>
                  </a:cubicBezTo>
                  <a:cubicBezTo>
                    <a:pt x="0" y="10189"/>
                    <a:pt x="28095" y="-12839"/>
                    <a:pt x="63393" y="7310"/>
                  </a:cubicBezTo>
                  <a:cubicBezTo>
                    <a:pt x="98692" y="27460"/>
                    <a:pt x="126787" y="82870"/>
                    <a:pt x="126787" y="130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291;p46">
              <a:extLst>
                <a:ext uri="{FF2B5EF4-FFF2-40B4-BE49-F238E27FC236}">
                  <a16:creationId xmlns:a16="http://schemas.microsoft.com/office/drawing/2014/main" id="{F1C4DA58-4D5F-FA4D-BD9A-056029406DE2}"/>
                </a:ext>
              </a:extLst>
            </p:cNvPr>
            <p:cNvSpPr/>
            <p:nvPr/>
          </p:nvSpPr>
          <p:spPr>
            <a:xfrm>
              <a:off x="1061303" y="4190012"/>
              <a:ext cx="111515" cy="122336"/>
            </a:xfrm>
            <a:custGeom>
              <a:avLst/>
              <a:gdLst/>
              <a:ahLst/>
              <a:cxnLst/>
              <a:rect l="l" t="t" r="r" b="b"/>
              <a:pathLst>
                <a:path w="1115145" h="1223357" extrusionOk="0">
                  <a:moveTo>
                    <a:pt x="1115145" y="643342"/>
                  </a:moveTo>
                  <a:lnTo>
                    <a:pt x="0" y="0"/>
                  </a:lnTo>
                  <a:lnTo>
                    <a:pt x="0" y="580016"/>
                  </a:lnTo>
                  <a:lnTo>
                    <a:pt x="1115145" y="1223358"/>
                  </a:lnTo>
                  <a:lnTo>
                    <a:pt x="1115145" y="643342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292;p46">
              <a:extLst>
                <a:ext uri="{FF2B5EF4-FFF2-40B4-BE49-F238E27FC236}">
                  <a16:creationId xmlns:a16="http://schemas.microsoft.com/office/drawing/2014/main" id="{6A755387-9E96-4148-8E6F-C5A944634750}"/>
                </a:ext>
              </a:extLst>
            </p:cNvPr>
            <p:cNvSpPr/>
            <p:nvPr/>
          </p:nvSpPr>
          <p:spPr>
            <a:xfrm>
              <a:off x="1089746" y="4220439"/>
              <a:ext cx="33570" cy="26338"/>
            </a:xfrm>
            <a:custGeom>
              <a:avLst/>
              <a:gdLst/>
              <a:ahLst/>
              <a:cxnLst/>
              <a:rect l="l" t="t" r="r" b="b"/>
              <a:pathLst>
                <a:path w="335696" h="263381" extrusionOk="0">
                  <a:moveTo>
                    <a:pt x="0" y="0"/>
                  </a:moveTo>
                  <a:lnTo>
                    <a:pt x="335696" y="193578"/>
                  </a:lnTo>
                  <a:lnTo>
                    <a:pt x="335696" y="263382"/>
                  </a:lnTo>
                  <a:lnTo>
                    <a:pt x="0" y="69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293;p46">
              <a:extLst>
                <a:ext uri="{FF2B5EF4-FFF2-40B4-BE49-F238E27FC236}">
                  <a16:creationId xmlns:a16="http://schemas.microsoft.com/office/drawing/2014/main" id="{55D1D98D-31B1-0347-B82F-E4609CFD3F7E}"/>
                </a:ext>
              </a:extLst>
            </p:cNvPr>
            <p:cNvSpPr/>
            <p:nvPr/>
          </p:nvSpPr>
          <p:spPr>
            <a:xfrm>
              <a:off x="1089818" y="4234361"/>
              <a:ext cx="71461" cy="48215"/>
            </a:xfrm>
            <a:custGeom>
              <a:avLst/>
              <a:gdLst/>
              <a:ahLst/>
              <a:cxnLst/>
              <a:rect l="l" t="t" r="r" b="b"/>
              <a:pathLst>
                <a:path w="714615" h="482146" extrusionOk="0">
                  <a:moveTo>
                    <a:pt x="0" y="0"/>
                  </a:moveTo>
                  <a:lnTo>
                    <a:pt x="714615" y="411624"/>
                  </a:lnTo>
                  <a:lnTo>
                    <a:pt x="714615" y="482147"/>
                  </a:lnTo>
                  <a:lnTo>
                    <a:pt x="0" y="70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294;p46">
              <a:extLst>
                <a:ext uri="{FF2B5EF4-FFF2-40B4-BE49-F238E27FC236}">
                  <a16:creationId xmlns:a16="http://schemas.microsoft.com/office/drawing/2014/main" id="{DB899E50-DCE1-254C-87FC-63519D8E2946}"/>
                </a:ext>
              </a:extLst>
            </p:cNvPr>
            <p:cNvSpPr/>
            <p:nvPr/>
          </p:nvSpPr>
          <p:spPr>
            <a:xfrm>
              <a:off x="1071287" y="4209448"/>
              <a:ext cx="12679" cy="18805"/>
            </a:xfrm>
            <a:custGeom>
              <a:avLst/>
              <a:gdLst/>
              <a:ahLst/>
              <a:cxnLst/>
              <a:rect l="l" t="t" r="r" b="b"/>
              <a:pathLst>
                <a:path w="126786" h="188049" extrusionOk="0">
                  <a:moveTo>
                    <a:pt x="126787" y="130366"/>
                  </a:moveTo>
                  <a:cubicBezTo>
                    <a:pt x="126787" y="177860"/>
                    <a:pt x="98692" y="200888"/>
                    <a:pt x="63393" y="180739"/>
                  </a:cubicBezTo>
                  <a:cubicBezTo>
                    <a:pt x="28095" y="160590"/>
                    <a:pt x="0" y="105179"/>
                    <a:pt x="0" y="57684"/>
                  </a:cubicBezTo>
                  <a:cubicBezTo>
                    <a:pt x="0" y="10189"/>
                    <a:pt x="28095" y="-12839"/>
                    <a:pt x="63393" y="7310"/>
                  </a:cubicBezTo>
                  <a:cubicBezTo>
                    <a:pt x="97971" y="27459"/>
                    <a:pt x="126787" y="82870"/>
                    <a:pt x="126787" y="130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295;p46">
              <a:extLst>
                <a:ext uri="{FF2B5EF4-FFF2-40B4-BE49-F238E27FC236}">
                  <a16:creationId xmlns:a16="http://schemas.microsoft.com/office/drawing/2014/main" id="{72CB11FE-FCE7-4E45-8440-6CB913E1CB2B}"/>
                </a:ext>
              </a:extLst>
            </p:cNvPr>
            <p:cNvSpPr/>
            <p:nvPr/>
          </p:nvSpPr>
          <p:spPr>
            <a:xfrm>
              <a:off x="1227436" y="4284375"/>
              <a:ext cx="92208" cy="138390"/>
            </a:xfrm>
            <a:custGeom>
              <a:avLst/>
              <a:gdLst/>
              <a:ahLst/>
              <a:cxnLst/>
              <a:rect l="l" t="t" r="r" b="b"/>
              <a:pathLst>
                <a:path w="922083" h="1383901" extrusionOk="0">
                  <a:moveTo>
                    <a:pt x="922084" y="957851"/>
                  </a:moveTo>
                  <a:cubicBezTo>
                    <a:pt x="922084" y="1310466"/>
                    <a:pt x="715336" y="1477418"/>
                    <a:pt x="461042" y="1330616"/>
                  </a:cubicBezTo>
                  <a:cubicBezTo>
                    <a:pt x="206028" y="1183813"/>
                    <a:pt x="0" y="778665"/>
                    <a:pt x="0" y="426050"/>
                  </a:cubicBezTo>
                  <a:cubicBezTo>
                    <a:pt x="0" y="73435"/>
                    <a:pt x="206749" y="-93517"/>
                    <a:pt x="461042" y="53286"/>
                  </a:cubicBezTo>
                  <a:cubicBezTo>
                    <a:pt x="716056" y="200089"/>
                    <a:pt x="922084" y="605236"/>
                    <a:pt x="922084" y="957851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296;p46">
              <a:extLst>
                <a:ext uri="{FF2B5EF4-FFF2-40B4-BE49-F238E27FC236}">
                  <a16:creationId xmlns:a16="http://schemas.microsoft.com/office/drawing/2014/main" id="{79089754-7BA5-F443-96D0-98B236F04D60}"/>
                </a:ext>
              </a:extLst>
            </p:cNvPr>
            <p:cNvSpPr/>
            <p:nvPr/>
          </p:nvSpPr>
          <p:spPr>
            <a:xfrm>
              <a:off x="1244674" y="4345448"/>
              <a:ext cx="12534" cy="17095"/>
            </a:xfrm>
            <a:custGeom>
              <a:avLst/>
              <a:gdLst/>
              <a:ahLst/>
              <a:cxnLst/>
              <a:rect l="l" t="t" r="r" b="b"/>
              <a:pathLst>
                <a:path w="125345" h="170952" extrusionOk="0">
                  <a:moveTo>
                    <a:pt x="106616" y="170551"/>
                  </a:moveTo>
                  <a:cubicBezTo>
                    <a:pt x="118862" y="166952"/>
                    <a:pt x="125346" y="153999"/>
                    <a:pt x="125346" y="131691"/>
                  </a:cubicBezTo>
                  <a:cubicBezTo>
                    <a:pt x="125346" y="108663"/>
                    <a:pt x="118862" y="88514"/>
                    <a:pt x="106616" y="71962"/>
                  </a:cubicBezTo>
                  <a:cubicBezTo>
                    <a:pt x="93649" y="55411"/>
                    <a:pt x="74920" y="39579"/>
                    <a:pt x="50426" y="25907"/>
                  </a:cubicBezTo>
                  <a:cubicBezTo>
                    <a:pt x="42502" y="21589"/>
                    <a:pt x="33858" y="16552"/>
                    <a:pt x="24493" y="12234"/>
                  </a:cubicBezTo>
                  <a:cubicBezTo>
                    <a:pt x="15128" y="7196"/>
                    <a:pt x="7204" y="2879"/>
                    <a:pt x="0" y="0"/>
                  </a:cubicBezTo>
                  <a:lnTo>
                    <a:pt x="0" y="123775"/>
                  </a:lnTo>
                  <a:lnTo>
                    <a:pt x="45384" y="149682"/>
                  </a:lnTo>
                  <a:cubicBezTo>
                    <a:pt x="74199" y="166233"/>
                    <a:pt x="94370" y="172709"/>
                    <a:pt x="106616" y="170551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297;p46">
              <a:extLst>
                <a:ext uri="{FF2B5EF4-FFF2-40B4-BE49-F238E27FC236}">
                  <a16:creationId xmlns:a16="http://schemas.microsoft.com/office/drawing/2014/main" id="{D76E0A5E-42EF-B049-89D5-E562B8E5ED77}"/>
                </a:ext>
              </a:extLst>
            </p:cNvPr>
            <p:cNvSpPr/>
            <p:nvPr/>
          </p:nvSpPr>
          <p:spPr>
            <a:xfrm>
              <a:off x="1244602" y="4367551"/>
              <a:ext cx="14119" cy="20094"/>
            </a:xfrm>
            <a:custGeom>
              <a:avLst/>
              <a:gdLst/>
              <a:ahLst/>
              <a:cxnLst/>
              <a:rect l="l" t="t" r="r" b="b"/>
              <a:pathLst>
                <a:path w="141193" h="200941" extrusionOk="0">
                  <a:moveTo>
                    <a:pt x="58350" y="33822"/>
                  </a:moveTo>
                  <a:lnTo>
                    <a:pt x="0" y="0"/>
                  </a:lnTo>
                  <a:lnTo>
                    <a:pt x="0" y="148242"/>
                  </a:lnTo>
                  <a:cubicBezTo>
                    <a:pt x="7204" y="153279"/>
                    <a:pt x="14408" y="158317"/>
                    <a:pt x="21611" y="162634"/>
                  </a:cubicBezTo>
                  <a:cubicBezTo>
                    <a:pt x="29535" y="167672"/>
                    <a:pt x="38180" y="172709"/>
                    <a:pt x="47545" y="178466"/>
                  </a:cubicBezTo>
                  <a:cubicBezTo>
                    <a:pt x="75640" y="194298"/>
                    <a:pt x="97971" y="202214"/>
                    <a:pt x="115261" y="200774"/>
                  </a:cubicBezTo>
                  <a:cubicBezTo>
                    <a:pt x="132550" y="200055"/>
                    <a:pt x="141194" y="184223"/>
                    <a:pt x="141194" y="154719"/>
                  </a:cubicBezTo>
                  <a:cubicBezTo>
                    <a:pt x="141194" y="128812"/>
                    <a:pt x="133990" y="105784"/>
                    <a:pt x="119583" y="86355"/>
                  </a:cubicBezTo>
                  <a:cubicBezTo>
                    <a:pt x="105175" y="66925"/>
                    <a:pt x="85005" y="48934"/>
                    <a:pt x="58350" y="33822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298;p46">
              <a:extLst>
                <a:ext uri="{FF2B5EF4-FFF2-40B4-BE49-F238E27FC236}">
                  <a16:creationId xmlns:a16="http://schemas.microsoft.com/office/drawing/2014/main" id="{9EDA398D-D08B-E64A-8551-C8D8EB6C17A5}"/>
                </a:ext>
              </a:extLst>
            </p:cNvPr>
            <p:cNvSpPr/>
            <p:nvPr/>
          </p:nvSpPr>
          <p:spPr>
            <a:xfrm>
              <a:off x="1206032" y="4298728"/>
              <a:ext cx="92208" cy="138390"/>
            </a:xfrm>
            <a:custGeom>
              <a:avLst/>
              <a:gdLst/>
              <a:ahLst/>
              <a:cxnLst/>
              <a:rect l="l" t="t" r="r" b="b"/>
              <a:pathLst>
                <a:path w="922083" h="1383901" extrusionOk="0">
                  <a:moveTo>
                    <a:pt x="461042" y="53286"/>
                  </a:moveTo>
                  <a:cubicBezTo>
                    <a:pt x="206028" y="-93517"/>
                    <a:pt x="0" y="73435"/>
                    <a:pt x="0" y="426050"/>
                  </a:cubicBezTo>
                  <a:cubicBezTo>
                    <a:pt x="0" y="778665"/>
                    <a:pt x="206749" y="1183813"/>
                    <a:pt x="461042" y="1330616"/>
                  </a:cubicBezTo>
                  <a:cubicBezTo>
                    <a:pt x="716056" y="1477418"/>
                    <a:pt x="922084" y="1310466"/>
                    <a:pt x="922084" y="957851"/>
                  </a:cubicBezTo>
                  <a:cubicBezTo>
                    <a:pt x="922084" y="605236"/>
                    <a:pt x="715335" y="200089"/>
                    <a:pt x="461042" y="53286"/>
                  </a:cubicBezTo>
                  <a:close/>
                  <a:moveTo>
                    <a:pt x="574862" y="1010384"/>
                  </a:moveTo>
                  <a:cubicBezTo>
                    <a:pt x="550369" y="1019739"/>
                    <a:pt x="516511" y="1014701"/>
                    <a:pt x="473289" y="995271"/>
                  </a:cubicBezTo>
                  <a:lnTo>
                    <a:pt x="473289" y="1081626"/>
                  </a:lnTo>
                  <a:lnTo>
                    <a:pt x="384682" y="1030533"/>
                  </a:lnTo>
                  <a:lnTo>
                    <a:pt x="384682" y="944898"/>
                  </a:lnTo>
                  <a:cubicBezTo>
                    <a:pt x="378199" y="941300"/>
                    <a:pt x="372436" y="936982"/>
                    <a:pt x="365952" y="932664"/>
                  </a:cubicBezTo>
                  <a:cubicBezTo>
                    <a:pt x="343620" y="917552"/>
                    <a:pt x="320568" y="899562"/>
                    <a:pt x="296075" y="878692"/>
                  </a:cubicBezTo>
                  <a:lnTo>
                    <a:pt x="296075" y="321705"/>
                  </a:lnTo>
                  <a:cubicBezTo>
                    <a:pt x="314805" y="327462"/>
                    <a:pt x="335696" y="336098"/>
                    <a:pt x="358748" y="346892"/>
                  </a:cubicBezTo>
                  <a:cubicBezTo>
                    <a:pt x="367393" y="350490"/>
                    <a:pt x="376037" y="354808"/>
                    <a:pt x="384682" y="359126"/>
                  </a:cubicBezTo>
                  <a:lnTo>
                    <a:pt x="384682" y="273490"/>
                  </a:lnTo>
                  <a:lnTo>
                    <a:pt x="473289" y="324584"/>
                  </a:lnTo>
                  <a:lnTo>
                    <a:pt x="472568" y="412377"/>
                  </a:lnTo>
                  <a:cubicBezTo>
                    <a:pt x="479772" y="418134"/>
                    <a:pt x="486976" y="423172"/>
                    <a:pt x="493459" y="428929"/>
                  </a:cubicBezTo>
                  <a:cubicBezTo>
                    <a:pt x="515791" y="446919"/>
                    <a:pt x="535241" y="467069"/>
                    <a:pt x="551089" y="488658"/>
                  </a:cubicBezTo>
                  <a:cubicBezTo>
                    <a:pt x="566938" y="510246"/>
                    <a:pt x="579184" y="534713"/>
                    <a:pt x="587829" y="560620"/>
                  </a:cubicBezTo>
                  <a:cubicBezTo>
                    <a:pt x="597193" y="586526"/>
                    <a:pt x="601516" y="614591"/>
                    <a:pt x="601516" y="644815"/>
                  </a:cubicBezTo>
                  <a:cubicBezTo>
                    <a:pt x="601516" y="690871"/>
                    <a:pt x="585667" y="718217"/>
                    <a:pt x="553971" y="726133"/>
                  </a:cubicBezTo>
                  <a:cubicBezTo>
                    <a:pt x="580625" y="754918"/>
                    <a:pt x="598634" y="783703"/>
                    <a:pt x="607999" y="813207"/>
                  </a:cubicBezTo>
                  <a:cubicBezTo>
                    <a:pt x="617364" y="841992"/>
                    <a:pt x="622407" y="872216"/>
                    <a:pt x="622407" y="901720"/>
                  </a:cubicBezTo>
                  <a:cubicBezTo>
                    <a:pt x="622407" y="962169"/>
                    <a:pt x="606558" y="998150"/>
                    <a:pt x="574862" y="101038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72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body" idx="2"/>
          </p:nvPr>
        </p:nvSpPr>
        <p:spPr>
          <a:xfrm>
            <a:off x="4815599" y="1353950"/>
            <a:ext cx="3473100" cy="20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Cybersecurity-focused IT leader with 5+ years building and securing enterprise cloud and hybrid infrastructure in fast-paced startup environments.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I translate business risk into actionable security strategy — architecting frameworks, governance, and monitoring that protect data while enabling growth.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Currently leading IT Operations at RightPath Insurance, Bachelor of IT, Cybersecurity and CISSP-certified.</a:t>
            </a:r>
            <a:endParaRPr sz="1200"/>
          </a:p>
        </p:txBody>
      </p:sp>
      <p:sp>
        <p:nvSpPr>
          <p:cNvPr id="108" name="Google Shape;108;p12"/>
          <p:cNvSpPr txBox="1">
            <a:spLocks noGrp="1"/>
          </p:cNvSpPr>
          <p:nvPr>
            <p:ph type="body" idx="1"/>
          </p:nvPr>
        </p:nvSpPr>
        <p:spPr>
          <a:xfrm>
            <a:off x="855275" y="1353950"/>
            <a:ext cx="3473100" cy="20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PORTFOLIO OVERVIEW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5+ years building and securing enterprise cloud and hybrid infrastructure.</a:t>
            </a:r>
            <a:r>
              <a:rPr lang="en" sz="1200" b="1"/>
              <a:t/>
            </a:r>
            <a:r>
              <a:rPr lang="en" sz="1200"/>
              <a:t/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Currently leading IT Operations at RightPath Insurance, Bachelor of IT, Cybersecurity and CISSP-certified.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Cybersecurity and CISSP-certified.</a:t>
            </a:r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body" idx="2"/>
          </p:nvPr>
        </p:nvSpPr>
        <p:spPr>
          <a:xfrm>
            <a:off x="855300" y="3753525"/>
            <a:ext cx="7433400" cy="6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</a:rPr>
              <a:t xml:space="preserve">Greenville, SC  |  traceysscott82@gmail.com  |  </a:t>
            </a:r>
            <a:r>
              <a:rPr lang="en" sz="1200" b="1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linkedin.com/in/traceysscott</a:t>
            </a:r>
            <a:endParaRPr sz="1200" b="1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2"/>
                </a:solidFill>
              </a:rPr>
              <a:t xml:space="preserve"/>
            </a:r>
            <a:r>
              <a:rPr lang="en" sz="1200" u="sng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accent2"/>
                </a:solidFill>
              </a:rPr>
              <a:t/>
            </a:r>
            <a:endParaRPr sz="12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</a:endParaRPr>
          </a:p>
        </p:txBody>
      </p:sp>
      <p:sp>
        <p:nvSpPr>
          <p:cNvPr id="110" name="Google Shape;110;p12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106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107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108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109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1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3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>
            <a:spLocks noGrp="1"/>
          </p:cNvSpPr>
          <p:nvPr>
            <p:ph type="ctrTitle" idx="4294967295"/>
          </p:nvPr>
        </p:nvSpPr>
        <p:spPr>
          <a:xfrm>
            <a:off x="199693" y="740470"/>
            <a:ext cx="21927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HELLO!</a:t>
            </a:r>
            <a:endParaRPr sz="4800" dirty="0"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4294967295"/>
          </p:nvPr>
        </p:nvSpPr>
        <p:spPr>
          <a:xfrm>
            <a:off x="0" y="2363638"/>
            <a:ext cx="2651761" cy="277986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</a:rPr>
              <a:t>I am Tracey Scott</a:t>
            </a:r>
            <a:endParaRPr sz="18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2"/>
                </a:solidFill>
              </a:rPr>
              <a:t>IT Operations Manager &amp; Business Analyst</a:t>
            </a:r>
            <a:endParaRPr sz="1800" dirty="0">
              <a:solidFill>
                <a:schemeClr val="accent2"/>
              </a:solidFill>
            </a:endParaRPr>
          </a:p>
          <a:p>
            <a:pPr marL="0" lvl="0" indent="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None/>
            </a:pPr>
            <a:r>
              <a:rPr lang="en" sz="1800" dirty="0">
                <a:solidFill>
                  <a:schemeClr val="accent2"/>
                </a:solidFill>
              </a:rPr>
              <a:t>Greenville, SC  |  traceysscott82@gmail.com</a:t>
            </a: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118" name="Google Shape;118;p13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Picture 2" descr="A person with braided hair wearing a black jacket  AI-generated content may be incorrect.">
            <a:extLst>
              <a:ext uri="{FF2B5EF4-FFF2-40B4-BE49-F238E27FC236}">
                <a16:creationId xmlns:a16="http://schemas.microsoft.com/office/drawing/2014/main" id="{5F8445D4-63F4-82EB-9A64-9DFBE7ABC5E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7000"/>
          </a:blip>
          <a:srcRect l="5670" r="6097"/>
          <a:stretch>
            <a:fillRect/>
          </a:stretch>
        </p:blipFill>
        <p:spPr>
          <a:xfrm>
            <a:off x="2651760" y="0"/>
            <a:ext cx="6583680" cy="509695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115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116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117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118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ctrTitle"/>
          </p:nvPr>
        </p:nvSpPr>
        <p:spPr>
          <a:xfrm>
            <a:off x="855300" y="1534047"/>
            <a:ext cx="51108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1</a:t>
            </a:r>
            <a:r>
              <a:rPr lang="en"/>
              <a:t xml:space="preserve"> SKILLS &amp; EXPERTISE</a:t>
            </a:r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subTitle" idx="1"/>
          </p:nvPr>
        </p:nvSpPr>
        <p:spPr>
          <a:xfrm>
            <a:off x="855300" y="2714552"/>
            <a:ext cx="5110800" cy="4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Core competencies across cybersecurity, cloud, and analytics</a:t>
            </a:r>
            <a:endParaRPr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BE09234F-AC63-D547-96F7-8F45296756FE}"/>
              </a:ext>
            </a:extLst>
          </p:cNvPr>
          <p:cNvGrpSpPr/>
          <p:nvPr/>
        </p:nvGrpSpPr>
        <p:grpSpPr>
          <a:xfrm>
            <a:off x="5676680" y="1130301"/>
            <a:ext cx="3046932" cy="2869148"/>
            <a:chOff x="5427606" y="1552655"/>
            <a:chExt cx="726137" cy="683768"/>
          </a:xfrm>
        </p:grpSpPr>
        <p:sp>
          <p:nvSpPr>
            <p:cNvPr id="59" name="Google Shape;851;p46">
              <a:extLst>
                <a:ext uri="{FF2B5EF4-FFF2-40B4-BE49-F238E27FC236}">
                  <a16:creationId xmlns:a16="http://schemas.microsoft.com/office/drawing/2014/main" id="{F1C544D4-7F71-D54A-B00D-315A50D52229}"/>
                </a:ext>
              </a:extLst>
            </p:cNvPr>
            <p:cNvSpPr/>
            <p:nvPr/>
          </p:nvSpPr>
          <p:spPr>
            <a:xfrm>
              <a:off x="5572580" y="1632552"/>
              <a:ext cx="178456" cy="192551"/>
            </a:xfrm>
            <a:custGeom>
              <a:avLst/>
              <a:gdLst/>
              <a:ahLst/>
              <a:cxnLst/>
              <a:rect l="l" t="t" r="r" b="b"/>
              <a:pathLst>
                <a:path w="1784563" h="1925515" extrusionOk="0">
                  <a:moveTo>
                    <a:pt x="1784564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4564" y="100479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852;p46">
              <a:extLst>
                <a:ext uri="{FF2B5EF4-FFF2-40B4-BE49-F238E27FC236}">
                  <a16:creationId xmlns:a16="http://schemas.microsoft.com/office/drawing/2014/main" id="{8D4662E8-B8D6-A54C-9773-97E896FA4B5B}"/>
                </a:ext>
              </a:extLst>
            </p:cNvPr>
            <p:cNvSpPr/>
            <p:nvPr/>
          </p:nvSpPr>
          <p:spPr>
            <a:xfrm>
              <a:off x="5618439" y="1680309"/>
              <a:ext cx="53496" cy="41296"/>
            </a:xfrm>
            <a:custGeom>
              <a:avLst/>
              <a:gdLst/>
              <a:ahLst/>
              <a:cxnLst/>
              <a:rect l="l" t="t" r="r" b="b"/>
              <a:pathLst>
                <a:path w="534957" h="412963" extrusionOk="0">
                  <a:moveTo>
                    <a:pt x="824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3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853;p46">
              <a:extLst>
                <a:ext uri="{FF2B5EF4-FFF2-40B4-BE49-F238E27FC236}">
                  <a16:creationId xmlns:a16="http://schemas.microsoft.com/office/drawing/2014/main" id="{1849BD79-1C27-EC45-AD1B-1D7BA595AF18}"/>
                </a:ext>
              </a:extLst>
            </p:cNvPr>
            <p:cNvSpPr/>
            <p:nvPr/>
          </p:nvSpPr>
          <p:spPr>
            <a:xfrm>
              <a:off x="5618275" y="1702420"/>
              <a:ext cx="113833" cy="75586"/>
            </a:xfrm>
            <a:custGeom>
              <a:avLst/>
              <a:gdLst/>
              <a:ahLst/>
              <a:cxnLst/>
              <a:rect l="l" t="t" r="r" b="b"/>
              <a:pathLst>
                <a:path w="1138329" h="755863" extrusionOk="0">
                  <a:moveTo>
                    <a:pt x="824" y="0"/>
                  </a:moveTo>
                  <a:lnTo>
                    <a:pt x="1138329" y="643762"/>
                  </a:lnTo>
                  <a:lnTo>
                    <a:pt x="1137505" y="755864"/>
                  </a:lnTo>
                  <a:lnTo>
                    <a:pt x="0" y="112102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854;p46">
              <a:extLst>
                <a:ext uri="{FF2B5EF4-FFF2-40B4-BE49-F238E27FC236}">
                  <a16:creationId xmlns:a16="http://schemas.microsoft.com/office/drawing/2014/main" id="{DD3E07EE-044A-C440-B626-DAE79832DA31}"/>
                </a:ext>
              </a:extLst>
            </p:cNvPr>
            <p:cNvSpPr/>
            <p:nvPr/>
          </p:nvSpPr>
          <p:spPr>
            <a:xfrm>
              <a:off x="5588934" y="1663110"/>
              <a:ext cx="20197" cy="29795"/>
            </a:xfrm>
            <a:custGeom>
              <a:avLst/>
              <a:gdLst/>
              <a:ahLst/>
              <a:cxnLst/>
              <a:rect l="l" t="t" r="r" b="b"/>
              <a:pathLst>
                <a:path w="201970" h="297952" extrusionOk="0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3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855;p46">
              <a:extLst>
                <a:ext uri="{FF2B5EF4-FFF2-40B4-BE49-F238E27FC236}">
                  <a16:creationId xmlns:a16="http://schemas.microsoft.com/office/drawing/2014/main" id="{366A95C5-5A38-C44C-A7EE-23495A45664C}"/>
                </a:ext>
              </a:extLst>
            </p:cNvPr>
            <p:cNvSpPr/>
            <p:nvPr/>
          </p:nvSpPr>
          <p:spPr>
            <a:xfrm>
              <a:off x="5975369" y="2043872"/>
              <a:ext cx="178374" cy="192551"/>
            </a:xfrm>
            <a:custGeom>
              <a:avLst/>
              <a:gdLst/>
              <a:ahLst/>
              <a:cxnLst/>
              <a:rect l="l" t="t" r="r" b="b"/>
              <a:pathLst>
                <a:path w="1783739" h="1925515" extrusionOk="0">
                  <a:moveTo>
                    <a:pt x="1783740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3740" y="100479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856;p46">
              <a:extLst>
                <a:ext uri="{FF2B5EF4-FFF2-40B4-BE49-F238E27FC236}">
                  <a16:creationId xmlns:a16="http://schemas.microsoft.com/office/drawing/2014/main" id="{CAF1EBBB-8F42-A540-988C-94DC34629144}"/>
                </a:ext>
              </a:extLst>
            </p:cNvPr>
            <p:cNvSpPr/>
            <p:nvPr/>
          </p:nvSpPr>
          <p:spPr>
            <a:xfrm>
              <a:off x="6021228" y="2091629"/>
              <a:ext cx="53496" cy="41296"/>
            </a:xfrm>
            <a:custGeom>
              <a:avLst/>
              <a:gdLst/>
              <a:ahLst/>
              <a:cxnLst/>
              <a:rect l="l" t="t" r="r" b="b"/>
              <a:pathLst>
                <a:path w="534957" h="412963" extrusionOk="0">
                  <a:moveTo>
                    <a:pt x="825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857;p46">
              <a:extLst>
                <a:ext uri="{FF2B5EF4-FFF2-40B4-BE49-F238E27FC236}">
                  <a16:creationId xmlns:a16="http://schemas.microsoft.com/office/drawing/2014/main" id="{432B05F2-8270-6240-B2EF-08BFCC483C6E}"/>
                </a:ext>
              </a:extLst>
            </p:cNvPr>
            <p:cNvSpPr/>
            <p:nvPr/>
          </p:nvSpPr>
          <p:spPr>
            <a:xfrm>
              <a:off x="6021064" y="2113740"/>
              <a:ext cx="113833" cy="75586"/>
            </a:xfrm>
            <a:custGeom>
              <a:avLst/>
              <a:gdLst/>
              <a:ahLst/>
              <a:cxnLst/>
              <a:rect l="l" t="t" r="r" b="b"/>
              <a:pathLst>
                <a:path w="1138329" h="755863" extrusionOk="0">
                  <a:moveTo>
                    <a:pt x="825" y="0"/>
                  </a:moveTo>
                  <a:lnTo>
                    <a:pt x="1138329" y="643762"/>
                  </a:lnTo>
                  <a:lnTo>
                    <a:pt x="1137505" y="755863"/>
                  </a:lnTo>
                  <a:lnTo>
                    <a:pt x="0" y="11210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858;p46">
              <a:extLst>
                <a:ext uri="{FF2B5EF4-FFF2-40B4-BE49-F238E27FC236}">
                  <a16:creationId xmlns:a16="http://schemas.microsoft.com/office/drawing/2014/main" id="{A2BC29EB-3E6B-5D43-98E6-674777F7362C}"/>
                </a:ext>
              </a:extLst>
            </p:cNvPr>
            <p:cNvSpPr/>
            <p:nvPr/>
          </p:nvSpPr>
          <p:spPr>
            <a:xfrm>
              <a:off x="5991723" y="2074430"/>
              <a:ext cx="20197" cy="29795"/>
            </a:xfrm>
            <a:custGeom>
              <a:avLst/>
              <a:gdLst/>
              <a:ahLst/>
              <a:cxnLst/>
              <a:rect l="l" t="t" r="r" b="b"/>
              <a:pathLst>
                <a:path w="201970" h="297952" extrusionOk="0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2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859;p46">
              <a:extLst>
                <a:ext uri="{FF2B5EF4-FFF2-40B4-BE49-F238E27FC236}">
                  <a16:creationId xmlns:a16="http://schemas.microsoft.com/office/drawing/2014/main" id="{7631B307-8DD9-6D4A-897D-3C8FC52157C9}"/>
                </a:ext>
              </a:extLst>
            </p:cNvPr>
            <p:cNvSpPr/>
            <p:nvPr/>
          </p:nvSpPr>
          <p:spPr>
            <a:xfrm>
              <a:off x="5805575" y="1552655"/>
              <a:ext cx="281739" cy="470993"/>
            </a:xfrm>
            <a:custGeom>
              <a:avLst/>
              <a:gdLst/>
              <a:ahLst/>
              <a:cxnLst/>
              <a:rect l="l" t="t" r="r" b="b"/>
              <a:pathLst>
                <a:path w="2817385" h="4709929" extrusionOk="0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1570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860;p46">
              <a:extLst>
                <a:ext uri="{FF2B5EF4-FFF2-40B4-BE49-F238E27FC236}">
                  <a16:creationId xmlns:a16="http://schemas.microsoft.com/office/drawing/2014/main" id="{F702330B-50D6-094E-AB43-9A0E6931B525}"/>
                </a:ext>
              </a:extLst>
            </p:cNvPr>
            <p:cNvSpPr/>
            <p:nvPr/>
          </p:nvSpPr>
          <p:spPr>
            <a:xfrm>
              <a:off x="5764811" y="1579780"/>
              <a:ext cx="281738" cy="470993"/>
            </a:xfrm>
            <a:custGeom>
              <a:avLst/>
              <a:gdLst/>
              <a:ahLst/>
              <a:cxnLst/>
              <a:rect l="l" t="t" r="r" b="b"/>
              <a:pathLst>
                <a:path w="2817384" h="4709929" extrusionOk="0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0746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861;p46">
              <a:extLst>
                <a:ext uri="{FF2B5EF4-FFF2-40B4-BE49-F238E27FC236}">
                  <a16:creationId xmlns:a16="http://schemas.microsoft.com/office/drawing/2014/main" id="{B55041BE-B97C-AB43-9894-1BB2E773925D}"/>
                </a:ext>
              </a:extLst>
            </p:cNvPr>
            <p:cNvSpPr/>
            <p:nvPr/>
          </p:nvSpPr>
          <p:spPr>
            <a:xfrm>
              <a:off x="5901978" y="1583397"/>
              <a:ext cx="144249" cy="467284"/>
            </a:xfrm>
            <a:custGeom>
              <a:avLst/>
              <a:gdLst/>
              <a:ahLst/>
              <a:cxnLst/>
              <a:rect l="l" t="t" r="r" b="b"/>
              <a:pathLst>
                <a:path w="1442487" h="4672836" extrusionOk="0">
                  <a:moveTo>
                    <a:pt x="1442488" y="1557887"/>
                  </a:moveTo>
                  <a:cubicBezTo>
                    <a:pt x="1113601" y="1371600"/>
                    <a:pt x="370925" y="441813"/>
                    <a:pt x="40389" y="0"/>
                  </a:cubicBezTo>
                  <a:lnTo>
                    <a:pt x="0" y="4672837"/>
                  </a:lnTo>
                  <a:cubicBezTo>
                    <a:pt x="1066617" y="4336531"/>
                    <a:pt x="1416935" y="2854478"/>
                    <a:pt x="1442488" y="155788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862;p46">
              <a:extLst>
                <a:ext uri="{FF2B5EF4-FFF2-40B4-BE49-F238E27FC236}">
                  <a16:creationId xmlns:a16="http://schemas.microsoft.com/office/drawing/2014/main" id="{8B50823C-5A96-3641-A556-DAE95298F1B5}"/>
                </a:ext>
              </a:extLst>
            </p:cNvPr>
            <p:cNvSpPr/>
            <p:nvPr/>
          </p:nvSpPr>
          <p:spPr>
            <a:xfrm>
              <a:off x="5727992" y="1830649"/>
              <a:ext cx="165515" cy="394994"/>
            </a:xfrm>
            <a:custGeom>
              <a:avLst/>
              <a:gdLst/>
              <a:ahLst/>
              <a:cxnLst/>
              <a:rect l="l" t="t" r="r" b="b"/>
              <a:pathLst>
                <a:path w="1655151" h="3949944" extrusionOk="0">
                  <a:moveTo>
                    <a:pt x="0" y="0"/>
                  </a:moveTo>
                  <a:lnTo>
                    <a:pt x="1654328" y="910828"/>
                  </a:lnTo>
                  <a:lnTo>
                    <a:pt x="1655152" y="3949944"/>
                  </a:lnTo>
                  <a:lnTo>
                    <a:pt x="824" y="303994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863;p46">
              <a:extLst>
                <a:ext uri="{FF2B5EF4-FFF2-40B4-BE49-F238E27FC236}">
                  <a16:creationId xmlns:a16="http://schemas.microsoft.com/office/drawing/2014/main" id="{70642E7E-77CA-1E48-AB32-9B17E91E469B}"/>
                </a:ext>
              </a:extLst>
            </p:cNvPr>
            <p:cNvSpPr/>
            <p:nvPr/>
          </p:nvSpPr>
          <p:spPr>
            <a:xfrm>
              <a:off x="5749360" y="2007787"/>
              <a:ext cx="125043" cy="177632"/>
            </a:xfrm>
            <a:custGeom>
              <a:avLst/>
              <a:gdLst/>
              <a:ahLst/>
              <a:cxnLst/>
              <a:rect l="l" t="t" r="r" b="b"/>
              <a:pathLst>
                <a:path w="1250431" h="1776320" extrusionOk="0">
                  <a:moveTo>
                    <a:pt x="0" y="0"/>
                  </a:moveTo>
                  <a:lnTo>
                    <a:pt x="1247134" y="686624"/>
                  </a:lnTo>
                  <a:lnTo>
                    <a:pt x="1250431" y="1776321"/>
                  </a:lnTo>
                  <a:lnTo>
                    <a:pt x="3297" y="1089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864;p46">
              <a:extLst>
                <a:ext uri="{FF2B5EF4-FFF2-40B4-BE49-F238E27FC236}">
                  <a16:creationId xmlns:a16="http://schemas.microsoft.com/office/drawing/2014/main" id="{0009CD3E-4917-7D4D-94AF-A19C3722079A}"/>
                </a:ext>
              </a:extLst>
            </p:cNvPr>
            <p:cNvSpPr/>
            <p:nvPr/>
          </p:nvSpPr>
          <p:spPr>
            <a:xfrm>
              <a:off x="5751579" y="1935452"/>
              <a:ext cx="57700" cy="42945"/>
            </a:xfrm>
            <a:custGeom>
              <a:avLst/>
              <a:gdLst/>
              <a:ahLst/>
              <a:cxnLst/>
              <a:rect l="l" t="t" r="r" b="b"/>
              <a:pathLst>
                <a:path w="576995" h="429449" extrusionOk="0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865;p46">
              <a:extLst>
                <a:ext uri="{FF2B5EF4-FFF2-40B4-BE49-F238E27FC236}">
                  <a16:creationId xmlns:a16="http://schemas.microsoft.com/office/drawing/2014/main" id="{8069BFE1-A2A5-C847-A718-722005375BF8}"/>
                </a:ext>
              </a:extLst>
            </p:cNvPr>
            <p:cNvSpPr/>
            <p:nvPr/>
          </p:nvSpPr>
          <p:spPr>
            <a:xfrm>
              <a:off x="5751826" y="1957646"/>
              <a:ext cx="57700" cy="42945"/>
            </a:xfrm>
            <a:custGeom>
              <a:avLst/>
              <a:gdLst/>
              <a:ahLst/>
              <a:cxnLst/>
              <a:rect l="l" t="t" r="r" b="b"/>
              <a:pathLst>
                <a:path w="576995" h="429449" extrusionOk="0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866;p46">
              <a:extLst>
                <a:ext uri="{FF2B5EF4-FFF2-40B4-BE49-F238E27FC236}">
                  <a16:creationId xmlns:a16="http://schemas.microsoft.com/office/drawing/2014/main" id="{B512B5AA-5BDF-1249-8D89-119AD0114FE7}"/>
                </a:ext>
              </a:extLst>
            </p:cNvPr>
            <p:cNvSpPr/>
            <p:nvPr/>
          </p:nvSpPr>
          <p:spPr>
            <a:xfrm>
              <a:off x="5751744" y="1979017"/>
              <a:ext cx="109464" cy="71465"/>
            </a:xfrm>
            <a:custGeom>
              <a:avLst/>
              <a:gdLst/>
              <a:ahLst/>
              <a:cxnLst/>
              <a:rect l="l" t="t" r="r" b="b"/>
              <a:pathLst>
                <a:path w="1094642" h="714649" extrusionOk="0">
                  <a:moveTo>
                    <a:pt x="0" y="0"/>
                  </a:moveTo>
                  <a:lnTo>
                    <a:pt x="1094643" y="602548"/>
                  </a:lnTo>
                  <a:lnTo>
                    <a:pt x="1094643" y="714650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867;p46">
              <a:extLst>
                <a:ext uri="{FF2B5EF4-FFF2-40B4-BE49-F238E27FC236}">
                  <a16:creationId xmlns:a16="http://schemas.microsoft.com/office/drawing/2014/main" id="{9413810C-4B1C-4045-9C07-58CE519428A8}"/>
                </a:ext>
              </a:extLst>
            </p:cNvPr>
            <p:cNvSpPr/>
            <p:nvPr/>
          </p:nvSpPr>
          <p:spPr>
            <a:xfrm>
              <a:off x="5727992" y="1830649"/>
              <a:ext cx="165598" cy="143589"/>
            </a:xfrm>
            <a:custGeom>
              <a:avLst/>
              <a:gdLst/>
              <a:ahLst/>
              <a:cxnLst/>
              <a:rect l="l" t="t" r="r" b="b"/>
              <a:pathLst>
                <a:path w="1655976" h="1435893" extrusionOk="0">
                  <a:moveTo>
                    <a:pt x="0" y="0"/>
                  </a:moveTo>
                  <a:lnTo>
                    <a:pt x="1654328" y="910828"/>
                  </a:lnTo>
                  <a:lnTo>
                    <a:pt x="1655976" y="1435894"/>
                  </a:lnTo>
                  <a:lnTo>
                    <a:pt x="824" y="52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868;p46">
              <a:extLst>
                <a:ext uri="{FF2B5EF4-FFF2-40B4-BE49-F238E27FC236}">
                  <a16:creationId xmlns:a16="http://schemas.microsoft.com/office/drawing/2014/main" id="{E29E4F4A-7E1E-A945-AE5F-D7EE3157C3D7}"/>
                </a:ext>
              </a:extLst>
            </p:cNvPr>
            <p:cNvSpPr/>
            <p:nvPr/>
          </p:nvSpPr>
          <p:spPr>
            <a:xfrm>
              <a:off x="5748292" y="1858619"/>
              <a:ext cx="21019" cy="31031"/>
            </a:xfrm>
            <a:custGeom>
              <a:avLst/>
              <a:gdLst/>
              <a:ahLst/>
              <a:cxnLst/>
              <a:rect l="l" t="t" r="r" b="b"/>
              <a:pathLst>
                <a:path w="210191" h="310309" extrusionOk="0">
                  <a:moveTo>
                    <a:pt x="210191" y="213266"/>
                  </a:moveTo>
                  <a:cubicBezTo>
                    <a:pt x="210191" y="292397"/>
                    <a:pt x="163207" y="331138"/>
                    <a:pt x="105508" y="298991"/>
                  </a:cubicBezTo>
                  <a:cubicBezTo>
                    <a:pt x="47808" y="266845"/>
                    <a:pt x="0" y="176998"/>
                    <a:pt x="0" y="97043"/>
                  </a:cubicBezTo>
                  <a:cubicBezTo>
                    <a:pt x="0" y="17912"/>
                    <a:pt x="46984" y="-20829"/>
                    <a:pt x="104683" y="11318"/>
                  </a:cubicBezTo>
                  <a:cubicBezTo>
                    <a:pt x="163207" y="43465"/>
                    <a:pt x="210191" y="134136"/>
                    <a:pt x="210191" y="213266"/>
                  </a:cubicBez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869;p46">
              <a:extLst>
                <a:ext uri="{FF2B5EF4-FFF2-40B4-BE49-F238E27FC236}">
                  <a16:creationId xmlns:a16="http://schemas.microsoft.com/office/drawing/2014/main" id="{9342584C-8AED-5444-BBE5-C312B063BDF0}"/>
                </a:ext>
              </a:extLst>
            </p:cNvPr>
            <p:cNvSpPr/>
            <p:nvPr/>
          </p:nvSpPr>
          <p:spPr>
            <a:xfrm>
              <a:off x="5825792" y="1961756"/>
              <a:ext cx="112349" cy="106909"/>
            </a:xfrm>
            <a:custGeom>
              <a:avLst/>
              <a:gdLst/>
              <a:ahLst/>
              <a:cxnLst/>
              <a:rect l="l" t="t" r="r" b="b"/>
              <a:pathLst>
                <a:path w="1123491" h="1069089" extrusionOk="0">
                  <a:moveTo>
                    <a:pt x="1649" y="451705"/>
                  </a:moveTo>
                  <a:lnTo>
                    <a:pt x="0" y="0"/>
                  </a:lnTo>
                  <a:lnTo>
                    <a:pt x="1121843" y="617385"/>
                  </a:lnTo>
                  <a:lnTo>
                    <a:pt x="1123492" y="1069090"/>
                  </a:lnTo>
                  <a:lnTo>
                    <a:pt x="1649" y="45170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870;p46">
              <a:extLst>
                <a:ext uri="{FF2B5EF4-FFF2-40B4-BE49-F238E27FC236}">
                  <a16:creationId xmlns:a16="http://schemas.microsoft.com/office/drawing/2014/main" id="{401896DD-CA7B-4441-B937-FAF703375A3A}"/>
                </a:ext>
              </a:extLst>
            </p:cNvPr>
            <p:cNvSpPr/>
            <p:nvPr/>
          </p:nvSpPr>
          <p:spPr>
            <a:xfrm>
              <a:off x="5453658" y="1675459"/>
              <a:ext cx="245388" cy="288992"/>
            </a:xfrm>
            <a:custGeom>
              <a:avLst/>
              <a:gdLst/>
              <a:ahLst/>
              <a:cxnLst/>
              <a:rect l="l" t="t" r="r" b="b"/>
              <a:pathLst>
                <a:path w="2453878" h="2889921" extrusionOk="0">
                  <a:moveTo>
                    <a:pt x="2453054" y="1415287"/>
                  </a:moveTo>
                  <a:lnTo>
                    <a:pt x="0" y="0"/>
                  </a:lnTo>
                  <a:lnTo>
                    <a:pt x="824" y="1278456"/>
                  </a:lnTo>
                  <a:lnTo>
                    <a:pt x="2237093" y="2569277"/>
                  </a:lnTo>
                  <a:lnTo>
                    <a:pt x="2453878" y="2889922"/>
                  </a:lnTo>
                  <a:lnTo>
                    <a:pt x="2453054" y="141528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871;p46">
              <a:extLst>
                <a:ext uri="{FF2B5EF4-FFF2-40B4-BE49-F238E27FC236}">
                  <a16:creationId xmlns:a16="http://schemas.microsoft.com/office/drawing/2014/main" id="{51A54E27-16EF-104C-AC3D-E216B915F69C}"/>
                </a:ext>
              </a:extLst>
            </p:cNvPr>
            <p:cNvSpPr/>
            <p:nvPr/>
          </p:nvSpPr>
          <p:spPr>
            <a:xfrm>
              <a:off x="5427606" y="1690501"/>
              <a:ext cx="92567" cy="88115"/>
            </a:xfrm>
            <a:custGeom>
              <a:avLst/>
              <a:gdLst/>
              <a:ahLst/>
              <a:cxnLst/>
              <a:rect l="l" t="t" r="r" b="b"/>
              <a:pathLst>
                <a:path w="925665" h="881154" extrusionOk="0">
                  <a:moveTo>
                    <a:pt x="0" y="347021"/>
                  </a:moveTo>
                  <a:lnTo>
                    <a:pt x="0" y="0"/>
                  </a:lnTo>
                  <a:lnTo>
                    <a:pt x="925665" y="534133"/>
                  </a:lnTo>
                  <a:lnTo>
                    <a:pt x="925665" y="881154"/>
                  </a:lnTo>
                  <a:lnTo>
                    <a:pt x="0" y="3470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72;p46">
              <a:extLst>
                <a:ext uri="{FF2B5EF4-FFF2-40B4-BE49-F238E27FC236}">
                  <a16:creationId xmlns:a16="http://schemas.microsoft.com/office/drawing/2014/main" id="{E2846B7A-A559-CD44-BDEA-12CA181049EA}"/>
                </a:ext>
              </a:extLst>
            </p:cNvPr>
            <p:cNvSpPr/>
            <p:nvPr/>
          </p:nvSpPr>
          <p:spPr>
            <a:xfrm>
              <a:off x="5581785" y="1780426"/>
              <a:ext cx="53743" cy="42203"/>
            </a:xfrm>
            <a:custGeom>
              <a:avLst/>
              <a:gdLst/>
              <a:ahLst/>
              <a:cxnLst/>
              <a:rect l="l" t="t" r="r" b="b"/>
              <a:pathLst>
                <a:path w="537429" h="422030" extrusionOk="0">
                  <a:moveTo>
                    <a:pt x="537430" y="309929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537430" y="422031"/>
                  </a:lnTo>
                  <a:lnTo>
                    <a:pt x="537430" y="309929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73;p46">
              <a:extLst>
                <a:ext uri="{FF2B5EF4-FFF2-40B4-BE49-F238E27FC236}">
                  <a16:creationId xmlns:a16="http://schemas.microsoft.com/office/drawing/2014/main" id="{6B09356E-791A-654F-AAEA-B6EFEAB94208}"/>
                </a:ext>
              </a:extLst>
            </p:cNvPr>
            <p:cNvSpPr/>
            <p:nvPr/>
          </p:nvSpPr>
          <p:spPr>
            <a:xfrm>
              <a:off x="5532063" y="1774179"/>
              <a:ext cx="103612" cy="70970"/>
            </a:xfrm>
            <a:custGeom>
              <a:avLst/>
              <a:gdLst/>
              <a:ahLst/>
              <a:cxnLst/>
              <a:rect l="l" t="t" r="r" b="b"/>
              <a:pathLst>
                <a:path w="1036118" h="709704" extrusionOk="0">
                  <a:moveTo>
                    <a:pt x="1036119" y="597602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036119" y="709704"/>
                  </a:lnTo>
                  <a:lnTo>
                    <a:pt x="1036119" y="597602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74;p46">
              <a:extLst>
                <a:ext uri="{FF2B5EF4-FFF2-40B4-BE49-F238E27FC236}">
                  <a16:creationId xmlns:a16="http://schemas.microsoft.com/office/drawing/2014/main" id="{39C684C9-2175-F44D-86D6-475591F4D129}"/>
                </a:ext>
              </a:extLst>
            </p:cNvPr>
            <p:cNvSpPr/>
            <p:nvPr/>
          </p:nvSpPr>
          <p:spPr>
            <a:xfrm>
              <a:off x="5510202" y="1783879"/>
              <a:ext cx="125538" cy="83664"/>
            </a:xfrm>
            <a:custGeom>
              <a:avLst/>
              <a:gdLst/>
              <a:ahLst/>
              <a:cxnLst/>
              <a:rect l="l" t="t" r="r" b="b"/>
              <a:pathLst>
                <a:path w="1255376" h="836643" extrusionOk="0">
                  <a:moveTo>
                    <a:pt x="1255377" y="724541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255377" y="836643"/>
                  </a:lnTo>
                  <a:lnTo>
                    <a:pt x="1255377" y="72454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75;p46">
              <a:extLst>
                <a:ext uri="{FF2B5EF4-FFF2-40B4-BE49-F238E27FC236}">
                  <a16:creationId xmlns:a16="http://schemas.microsoft.com/office/drawing/2014/main" id="{00371F1F-A651-1D49-B588-7A122CE19AFD}"/>
                </a:ext>
              </a:extLst>
            </p:cNvPr>
            <p:cNvSpPr/>
            <p:nvPr/>
          </p:nvSpPr>
          <p:spPr>
            <a:xfrm>
              <a:off x="5648519" y="1818004"/>
              <a:ext cx="27861" cy="41435"/>
            </a:xfrm>
            <a:custGeom>
              <a:avLst/>
              <a:gdLst/>
              <a:ahLst/>
              <a:cxnLst/>
              <a:rect l="l" t="t" r="r" b="b"/>
              <a:pathLst>
                <a:path w="278606" h="414354" extrusionOk="0">
                  <a:moveTo>
                    <a:pt x="0" y="126810"/>
                  </a:moveTo>
                  <a:cubicBezTo>
                    <a:pt x="0" y="232318"/>
                    <a:pt x="62645" y="353487"/>
                    <a:pt x="139303" y="397998"/>
                  </a:cubicBezTo>
                  <a:cubicBezTo>
                    <a:pt x="215961" y="442509"/>
                    <a:pt x="278606" y="393052"/>
                    <a:pt x="278606" y="287545"/>
                  </a:cubicBezTo>
                  <a:cubicBezTo>
                    <a:pt x="278606" y="182037"/>
                    <a:pt x="215961" y="60868"/>
                    <a:pt x="139303" y="16357"/>
                  </a:cubicBezTo>
                  <a:cubicBezTo>
                    <a:pt x="62645" y="-28154"/>
                    <a:pt x="0" y="21303"/>
                    <a:pt x="0" y="126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76;p46">
              <a:extLst>
                <a:ext uri="{FF2B5EF4-FFF2-40B4-BE49-F238E27FC236}">
                  <a16:creationId xmlns:a16="http://schemas.microsoft.com/office/drawing/2014/main" id="{179CD420-7576-1D46-A72C-8DA7A801DA08}"/>
                </a:ext>
              </a:extLst>
            </p:cNvPr>
            <p:cNvSpPr/>
            <p:nvPr/>
          </p:nvSpPr>
          <p:spPr>
            <a:xfrm>
              <a:off x="5585154" y="1946757"/>
              <a:ext cx="68910" cy="93879"/>
            </a:xfrm>
            <a:custGeom>
              <a:avLst/>
              <a:gdLst/>
              <a:ahLst/>
              <a:cxnLst/>
              <a:rect l="l" t="t" r="r" b="b"/>
              <a:pathLst>
                <a:path w="689097" h="938791" extrusionOk="0">
                  <a:moveTo>
                    <a:pt x="344549" y="11931"/>
                  </a:moveTo>
                  <a:cubicBezTo>
                    <a:pt x="394005" y="39956"/>
                    <a:pt x="433571" y="109196"/>
                    <a:pt x="433571" y="166071"/>
                  </a:cubicBezTo>
                  <a:lnTo>
                    <a:pt x="433571" y="417476"/>
                  </a:lnTo>
                  <a:lnTo>
                    <a:pt x="600075" y="513092"/>
                  </a:lnTo>
                  <a:cubicBezTo>
                    <a:pt x="649532" y="541118"/>
                    <a:pt x="689097" y="610357"/>
                    <a:pt x="689097" y="667233"/>
                  </a:cubicBezTo>
                  <a:cubicBezTo>
                    <a:pt x="689097" y="724107"/>
                    <a:pt x="649532" y="747188"/>
                    <a:pt x="600075" y="719162"/>
                  </a:cubicBezTo>
                  <a:lnTo>
                    <a:pt x="433571" y="623546"/>
                  </a:lnTo>
                  <a:lnTo>
                    <a:pt x="433571" y="874951"/>
                  </a:lnTo>
                  <a:cubicBezTo>
                    <a:pt x="433571" y="931826"/>
                    <a:pt x="394005" y="954906"/>
                    <a:pt x="344549" y="926880"/>
                  </a:cubicBezTo>
                  <a:cubicBezTo>
                    <a:pt x="295092" y="898855"/>
                    <a:pt x="255526" y="829616"/>
                    <a:pt x="255526" y="772740"/>
                  </a:cubicBezTo>
                  <a:lnTo>
                    <a:pt x="255526" y="521335"/>
                  </a:lnTo>
                  <a:lnTo>
                    <a:pt x="89022" y="424894"/>
                  </a:lnTo>
                  <a:cubicBezTo>
                    <a:pt x="39565" y="396869"/>
                    <a:pt x="0" y="327630"/>
                    <a:pt x="0" y="270754"/>
                  </a:cubicBezTo>
                  <a:cubicBezTo>
                    <a:pt x="0" y="213879"/>
                    <a:pt x="39565" y="190799"/>
                    <a:pt x="89022" y="218825"/>
                  </a:cubicBezTo>
                  <a:lnTo>
                    <a:pt x="255526" y="314441"/>
                  </a:lnTo>
                  <a:lnTo>
                    <a:pt x="255526" y="63036"/>
                  </a:lnTo>
                  <a:cubicBezTo>
                    <a:pt x="255526" y="6985"/>
                    <a:pt x="295092" y="-16095"/>
                    <a:pt x="344549" y="1193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123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124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>
            <a:spLocks noGrp="1"/>
          </p:cNvSpPr>
          <p:nvPr>
            <p:ph type="body" idx="1"/>
          </p:nvPr>
        </p:nvSpPr>
        <p:spPr>
          <a:xfrm>
            <a:off x="855300" y="2161800"/>
            <a:ext cx="53070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“I translate business risk into actionable security strategy — architecting frameworks, governance, and monitoring that protect data while enabling growth.”</a:t>
            </a:r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156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15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COMPETENCIES</a:t>
            </a:r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855300" y="1353948"/>
            <a:ext cx="53070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IDS/IPS &amp; Firewall Administration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Endpoint / EDR &amp; MDM Management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Incident Response &amp; IR Playbooks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Org-wide Security Training via KnowBe4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IAM / RBAC / Azure AD Controls</a:t>
            </a:r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C0C1C295-AE29-2E4F-A5BC-9C660106B1F1}"/>
              </a:ext>
            </a:extLst>
          </p:cNvPr>
          <p:cNvGrpSpPr/>
          <p:nvPr/>
        </p:nvGrpSpPr>
        <p:grpSpPr>
          <a:xfrm>
            <a:off x="6114994" y="720387"/>
            <a:ext cx="2731502" cy="3852570"/>
            <a:chOff x="996049" y="1552369"/>
            <a:chExt cx="485510" cy="684774"/>
          </a:xfrm>
        </p:grpSpPr>
        <p:sp>
          <p:nvSpPr>
            <p:cNvPr id="58" name="Google Shape;902;p46">
              <a:extLst>
                <a:ext uri="{FF2B5EF4-FFF2-40B4-BE49-F238E27FC236}">
                  <a16:creationId xmlns:a16="http://schemas.microsoft.com/office/drawing/2014/main" id="{D96D4595-E404-834E-951C-2CD9F0E1C199}"/>
                </a:ext>
              </a:extLst>
            </p:cNvPr>
            <p:cNvSpPr/>
            <p:nvPr/>
          </p:nvSpPr>
          <p:spPr>
            <a:xfrm>
              <a:off x="1264384" y="1758365"/>
              <a:ext cx="217175" cy="221539"/>
            </a:xfrm>
            <a:custGeom>
              <a:avLst/>
              <a:gdLst/>
              <a:ahLst/>
              <a:cxnLst/>
              <a:rect l="l" t="t" r="r" b="b"/>
              <a:pathLst>
                <a:path w="2171751" h="2215389" extrusionOk="0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903;p46">
              <a:extLst>
                <a:ext uri="{FF2B5EF4-FFF2-40B4-BE49-F238E27FC236}">
                  <a16:creationId xmlns:a16="http://schemas.microsoft.com/office/drawing/2014/main" id="{73A75B6A-CDD1-0143-B91F-E7DFEBB3DDAD}"/>
                </a:ext>
              </a:extLst>
            </p:cNvPr>
            <p:cNvSpPr/>
            <p:nvPr/>
          </p:nvSpPr>
          <p:spPr>
            <a:xfrm>
              <a:off x="1310707" y="1552369"/>
              <a:ext cx="123404" cy="187230"/>
            </a:xfrm>
            <a:custGeom>
              <a:avLst/>
              <a:gdLst/>
              <a:ahLst/>
              <a:cxnLst/>
              <a:rect l="l" t="t" r="r" b="b"/>
              <a:pathLst>
                <a:path w="1234041" h="1872301" extrusionOk="0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6" y="1601370"/>
                    <a:pt x="0" y="1053660"/>
                    <a:pt x="0" y="576322"/>
                  </a:cubicBezTo>
                  <a:cubicBezTo>
                    <a:pt x="0" y="98983"/>
                    <a:pt x="276446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904;p46">
              <a:extLst>
                <a:ext uri="{FF2B5EF4-FFF2-40B4-BE49-F238E27FC236}">
                  <a16:creationId xmlns:a16="http://schemas.microsoft.com/office/drawing/2014/main" id="{0023181F-4473-D344-9C3F-45F6AC21349A}"/>
                </a:ext>
              </a:extLst>
            </p:cNvPr>
            <p:cNvSpPr/>
            <p:nvPr/>
          </p:nvSpPr>
          <p:spPr>
            <a:xfrm>
              <a:off x="1237881" y="1778226"/>
              <a:ext cx="217175" cy="221539"/>
            </a:xfrm>
            <a:custGeom>
              <a:avLst/>
              <a:gdLst/>
              <a:ahLst/>
              <a:cxnLst/>
              <a:rect l="l" t="t" r="r" b="b"/>
              <a:pathLst>
                <a:path w="2171751" h="2215389" extrusionOk="0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905;p46">
              <a:extLst>
                <a:ext uri="{FF2B5EF4-FFF2-40B4-BE49-F238E27FC236}">
                  <a16:creationId xmlns:a16="http://schemas.microsoft.com/office/drawing/2014/main" id="{C0A8C2F2-4D79-9546-B6A4-9A14E6F72E70}"/>
                </a:ext>
              </a:extLst>
            </p:cNvPr>
            <p:cNvSpPr/>
            <p:nvPr/>
          </p:nvSpPr>
          <p:spPr>
            <a:xfrm>
              <a:off x="1284204" y="1572230"/>
              <a:ext cx="123404" cy="187230"/>
            </a:xfrm>
            <a:custGeom>
              <a:avLst/>
              <a:gdLst/>
              <a:ahLst/>
              <a:cxnLst/>
              <a:rect l="l" t="t" r="r" b="b"/>
              <a:pathLst>
                <a:path w="1234041" h="1872301" extrusionOk="0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7" y="1601370"/>
                    <a:pt x="0" y="1053660"/>
                    <a:pt x="0" y="576322"/>
                  </a:cubicBezTo>
                  <a:cubicBezTo>
                    <a:pt x="0" y="98983"/>
                    <a:pt x="276447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906;p46">
              <a:extLst>
                <a:ext uri="{FF2B5EF4-FFF2-40B4-BE49-F238E27FC236}">
                  <a16:creationId xmlns:a16="http://schemas.microsoft.com/office/drawing/2014/main" id="{0BA1F377-6480-8E40-8B42-97DB73B11486}"/>
                </a:ext>
              </a:extLst>
            </p:cNvPr>
            <p:cNvSpPr/>
            <p:nvPr/>
          </p:nvSpPr>
          <p:spPr>
            <a:xfrm>
              <a:off x="996049" y="1744169"/>
              <a:ext cx="123803" cy="135766"/>
            </a:xfrm>
            <a:custGeom>
              <a:avLst/>
              <a:gdLst/>
              <a:ahLst/>
              <a:cxnLst/>
              <a:rect l="l" t="t" r="r" b="b"/>
              <a:pathLst>
                <a:path w="1238028" h="1357658" extrusionOk="0">
                  <a:moveTo>
                    <a:pt x="1237364" y="713683"/>
                  </a:moveTo>
                  <a:lnTo>
                    <a:pt x="0" y="0"/>
                  </a:lnTo>
                  <a:lnTo>
                    <a:pt x="0" y="643975"/>
                  </a:lnTo>
                  <a:lnTo>
                    <a:pt x="1238028" y="1357658"/>
                  </a:lnTo>
                  <a:lnTo>
                    <a:pt x="1237364" y="71368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907;p46">
              <a:extLst>
                <a:ext uri="{FF2B5EF4-FFF2-40B4-BE49-F238E27FC236}">
                  <a16:creationId xmlns:a16="http://schemas.microsoft.com/office/drawing/2014/main" id="{BB53C8C0-A03A-9944-BCEE-55A41BBBEA70}"/>
                </a:ext>
              </a:extLst>
            </p:cNvPr>
            <p:cNvSpPr/>
            <p:nvPr/>
          </p:nvSpPr>
          <p:spPr>
            <a:xfrm>
              <a:off x="1007048" y="1765748"/>
              <a:ext cx="14088" cy="20853"/>
            </a:xfrm>
            <a:custGeom>
              <a:avLst/>
              <a:gdLst/>
              <a:ahLst/>
              <a:cxnLst/>
              <a:rect l="l" t="t" r="r" b="b"/>
              <a:pathLst>
                <a:path w="140881" h="208525" extrusionOk="0">
                  <a:moveTo>
                    <a:pt x="140881" y="144760"/>
                  </a:moveTo>
                  <a:cubicBezTo>
                    <a:pt x="140881" y="197872"/>
                    <a:pt x="109648" y="222435"/>
                    <a:pt x="70441" y="200527"/>
                  </a:cubicBezTo>
                  <a:cubicBezTo>
                    <a:pt x="31898" y="177955"/>
                    <a:pt x="0" y="116877"/>
                    <a:pt x="0" y="63765"/>
                  </a:cubicBezTo>
                  <a:cubicBezTo>
                    <a:pt x="0" y="10654"/>
                    <a:pt x="31233" y="-13910"/>
                    <a:pt x="70441" y="7999"/>
                  </a:cubicBezTo>
                  <a:cubicBezTo>
                    <a:pt x="109648" y="30571"/>
                    <a:pt x="140881" y="91649"/>
                    <a:pt x="140881" y="144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908;p46">
              <a:extLst>
                <a:ext uri="{FF2B5EF4-FFF2-40B4-BE49-F238E27FC236}">
                  <a16:creationId xmlns:a16="http://schemas.microsoft.com/office/drawing/2014/main" id="{A0E5A3BE-01DF-3042-B8F9-6B64A542C40D}"/>
                </a:ext>
              </a:extLst>
            </p:cNvPr>
            <p:cNvSpPr/>
            <p:nvPr/>
          </p:nvSpPr>
          <p:spPr>
            <a:xfrm>
              <a:off x="1027455" y="1778198"/>
              <a:ext cx="40470" cy="32331"/>
            </a:xfrm>
            <a:custGeom>
              <a:avLst/>
              <a:gdLst/>
              <a:ahLst/>
              <a:cxnLst/>
              <a:rect l="l" t="t" r="r" b="b"/>
              <a:pathLst>
                <a:path w="404701" h="323315" extrusionOk="0">
                  <a:moveTo>
                    <a:pt x="0" y="0"/>
                  </a:moveTo>
                  <a:lnTo>
                    <a:pt x="404702" y="233026"/>
                  </a:lnTo>
                  <a:lnTo>
                    <a:pt x="404702" y="323315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909;p46">
              <a:extLst>
                <a:ext uri="{FF2B5EF4-FFF2-40B4-BE49-F238E27FC236}">
                  <a16:creationId xmlns:a16="http://schemas.microsoft.com/office/drawing/2014/main" id="{D2C14941-3BE2-CF42-9A0E-E078BA89B5E0}"/>
                </a:ext>
              </a:extLst>
            </p:cNvPr>
            <p:cNvSpPr/>
            <p:nvPr/>
          </p:nvSpPr>
          <p:spPr>
            <a:xfrm>
              <a:off x="1027654" y="1796338"/>
              <a:ext cx="79279" cy="54771"/>
            </a:xfrm>
            <a:custGeom>
              <a:avLst/>
              <a:gdLst/>
              <a:ahLst/>
              <a:cxnLst/>
              <a:rect l="l" t="t" r="r" b="b"/>
              <a:pathLst>
                <a:path w="792790" h="547710" extrusionOk="0">
                  <a:moveTo>
                    <a:pt x="0" y="0"/>
                  </a:moveTo>
                  <a:lnTo>
                    <a:pt x="792790" y="457421"/>
                  </a:lnTo>
                  <a:lnTo>
                    <a:pt x="792790" y="547711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910;p46">
              <a:extLst>
                <a:ext uri="{FF2B5EF4-FFF2-40B4-BE49-F238E27FC236}">
                  <a16:creationId xmlns:a16="http://schemas.microsoft.com/office/drawing/2014/main" id="{0E7B0E6E-F5D7-194D-948F-669CD8E12603}"/>
                </a:ext>
              </a:extLst>
            </p:cNvPr>
            <p:cNvSpPr/>
            <p:nvPr/>
          </p:nvSpPr>
          <p:spPr>
            <a:xfrm>
              <a:off x="1314218" y="1880086"/>
              <a:ext cx="124334" cy="339182"/>
            </a:xfrm>
            <a:custGeom>
              <a:avLst/>
              <a:gdLst/>
              <a:ahLst/>
              <a:cxnLst/>
              <a:rect l="l" t="t" r="r" b="b"/>
              <a:pathLst>
                <a:path w="1243344" h="3391822" extrusionOk="0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5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911;p46">
              <a:extLst>
                <a:ext uri="{FF2B5EF4-FFF2-40B4-BE49-F238E27FC236}">
                  <a16:creationId xmlns:a16="http://schemas.microsoft.com/office/drawing/2014/main" id="{C1C8EFE2-03E3-3947-93E9-A0810DFE95FC}"/>
                </a:ext>
              </a:extLst>
            </p:cNvPr>
            <p:cNvSpPr/>
            <p:nvPr/>
          </p:nvSpPr>
          <p:spPr>
            <a:xfrm>
              <a:off x="1293480" y="1897961"/>
              <a:ext cx="124401" cy="339182"/>
            </a:xfrm>
            <a:custGeom>
              <a:avLst/>
              <a:gdLst/>
              <a:ahLst/>
              <a:cxnLst/>
              <a:rect l="l" t="t" r="r" b="b"/>
              <a:pathLst>
                <a:path w="1244009" h="3391822" extrusionOk="0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912;p46">
              <a:extLst>
                <a:ext uri="{FF2B5EF4-FFF2-40B4-BE49-F238E27FC236}">
                  <a16:creationId xmlns:a16="http://schemas.microsoft.com/office/drawing/2014/main" id="{9CDE02A5-14CD-9142-A87A-A6F41DAC5C88}"/>
                </a:ext>
              </a:extLst>
            </p:cNvPr>
            <p:cNvSpPr/>
            <p:nvPr/>
          </p:nvSpPr>
          <p:spPr>
            <a:xfrm>
              <a:off x="1305472" y="2066980"/>
              <a:ext cx="99880" cy="66588"/>
            </a:xfrm>
            <a:custGeom>
              <a:avLst/>
              <a:gdLst/>
              <a:ahLst/>
              <a:cxnLst/>
              <a:rect l="l" t="t" r="r" b="b"/>
              <a:pathLst>
                <a:path w="998795" h="665883" extrusionOk="0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913;p46">
              <a:extLst>
                <a:ext uri="{FF2B5EF4-FFF2-40B4-BE49-F238E27FC236}">
                  <a16:creationId xmlns:a16="http://schemas.microsoft.com/office/drawing/2014/main" id="{1B116BF7-0D52-1D4F-B6C5-054DB4B534F5}"/>
                </a:ext>
              </a:extLst>
            </p:cNvPr>
            <p:cNvSpPr/>
            <p:nvPr/>
          </p:nvSpPr>
          <p:spPr>
            <a:xfrm>
              <a:off x="1312496" y="2088563"/>
              <a:ext cx="85924" cy="58555"/>
            </a:xfrm>
            <a:custGeom>
              <a:avLst/>
              <a:gdLst/>
              <a:ahLst/>
              <a:cxnLst/>
              <a:rect l="l" t="t" r="r" b="b"/>
              <a:pathLst>
                <a:path w="859243" h="585552" extrusionOk="0">
                  <a:moveTo>
                    <a:pt x="0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914;p46">
              <a:extLst>
                <a:ext uri="{FF2B5EF4-FFF2-40B4-BE49-F238E27FC236}">
                  <a16:creationId xmlns:a16="http://schemas.microsoft.com/office/drawing/2014/main" id="{0BB05E76-291D-4F4F-83C6-0584BE5F662D}"/>
                </a:ext>
              </a:extLst>
            </p:cNvPr>
            <p:cNvSpPr/>
            <p:nvPr/>
          </p:nvSpPr>
          <p:spPr>
            <a:xfrm>
              <a:off x="1327934" y="1987117"/>
              <a:ext cx="55422" cy="83162"/>
            </a:xfrm>
            <a:custGeom>
              <a:avLst/>
              <a:gdLst/>
              <a:ahLst/>
              <a:cxnLst/>
              <a:rect l="l" t="t" r="r" b="b"/>
              <a:pathLst>
                <a:path w="554222" h="831619" extrusionOk="0">
                  <a:moveTo>
                    <a:pt x="554222" y="575808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915;p46">
              <a:extLst>
                <a:ext uri="{FF2B5EF4-FFF2-40B4-BE49-F238E27FC236}">
                  <a16:creationId xmlns:a16="http://schemas.microsoft.com/office/drawing/2014/main" id="{14405D4A-2400-A645-AA49-2DB82CBE869A}"/>
                </a:ext>
              </a:extLst>
            </p:cNvPr>
            <p:cNvSpPr/>
            <p:nvPr/>
          </p:nvSpPr>
          <p:spPr>
            <a:xfrm>
              <a:off x="1159838" y="1665386"/>
              <a:ext cx="124334" cy="339182"/>
            </a:xfrm>
            <a:custGeom>
              <a:avLst/>
              <a:gdLst/>
              <a:ahLst/>
              <a:cxnLst/>
              <a:rect l="l" t="t" r="r" b="b"/>
              <a:pathLst>
                <a:path w="1243344" h="3391821" extrusionOk="0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916;p46">
              <a:extLst>
                <a:ext uri="{FF2B5EF4-FFF2-40B4-BE49-F238E27FC236}">
                  <a16:creationId xmlns:a16="http://schemas.microsoft.com/office/drawing/2014/main" id="{A646349E-0F72-0D44-ACA9-BB35231428A4}"/>
                </a:ext>
              </a:extLst>
            </p:cNvPr>
            <p:cNvSpPr/>
            <p:nvPr/>
          </p:nvSpPr>
          <p:spPr>
            <a:xfrm>
              <a:off x="1139099" y="1683460"/>
              <a:ext cx="124401" cy="339182"/>
            </a:xfrm>
            <a:custGeom>
              <a:avLst/>
              <a:gdLst/>
              <a:ahLst/>
              <a:cxnLst/>
              <a:rect l="l" t="t" r="r" b="b"/>
              <a:pathLst>
                <a:path w="1244009" h="3391822" extrusionOk="0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917;p46">
              <a:extLst>
                <a:ext uri="{FF2B5EF4-FFF2-40B4-BE49-F238E27FC236}">
                  <a16:creationId xmlns:a16="http://schemas.microsoft.com/office/drawing/2014/main" id="{782D3BCB-1DA4-AB40-AE6A-D4F98F235615}"/>
                </a:ext>
              </a:extLst>
            </p:cNvPr>
            <p:cNvSpPr/>
            <p:nvPr/>
          </p:nvSpPr>
          <p:spPr>
            <a:xfrm>
              <a:off x="1151092" y="1852214"/>
              <a:ext cx="99880" cy="66588"/>
            </a:xfrm>
            <a:custGeom>
              <a:avLst/>
              <a:gdLst/>
              <a:ahLst/>
              <a:cxnLst/>
              <a:rect l="l" t="t" r="r" b="b"/>
              <a:pathLst>
                <a:path w="998795" h="665883" extrusionOk="0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918;p46">
              <a:extLst>
                <a:ext uri="{FF2B5EF4-FFF2-40B4-BE49-F238E27FC236}">
                  <a16:creationId xmlns:a16="http://schemas.microsoft.com/office/drawing/2014/main" id="{1AA4DBEA-B5D8-6F4C-B341-BA9BA7E6CECC}"/>
                </a:ext>
              </a:extLst>
            </p:cNvPr>
            <p:cNvSpPr/>
            <p:nvPr/>
          </p:nvSpPr>
          <p:spPr>
            <a:xfrm>
              <a:off x="1157983" y="1873863"/>
              <a:ext cx="85924" cy="58555"/>
            </a:xfrm>
            <a:custGeom>
              <a:avLst/>
              <a:gdLst/>
              <a:ahLst/>
              <a:cxnLst/>
              <a:rect l="l" t="t" r="r" b="b"/>
              <a:pathLst>
                <a:path w="859243" h="585552" extrusionOk="0">
                  <a:moveTo>
                    <a:pt x="665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919;p46">
              <a:extLst>
                <a:ext uri="{FF2B5EF4-FFF2-40B4-BE49-F238E27FC236}">
                  <a16:creationId xmlns:a16="http://schemas.microsoft.com/office/drawing/2014/main" id="{3D33FA69-B8D2-DA41-915B-6CABB069966B}"/>
                </a:ext>
              </a:extLst>
            </p:cNvPr>
            <p:cNvSpPr/>
            <p:nvPr/>
          </p:nvSpPr>
          <p:spPr>
            <a:xfrm>
              <a:off x="1173553" y="1772417"/>
              <a:ext cx="55422" cy="83162"/>
            </a:xfrm>
            <a:custGeom>
              <a:avLst/>
              <a:gdLst/>
              <a:ahLst/>
              <a:cxnLst/>
              <a:rect l="l" t="t" r="r" b="b"/>
              <a:pathLst>
                <a:path w="554222" h="831619" extrusionOk="0">
                  <a:moveTo>
                    <a:pt x="554222" y="575807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920;p46">
              <a:extLst>
                <a:ext uri="{FF2B5EF4-FFF2-40B4-BE49-F238E27FC236}">
                  <a16:creationId xmlns:a16="http://schemas.microsoft.com/office/drawing/2014/main" id="{968741F6-42A3-A843-8C4E-10051F18F6D4}"/>
                </a:ext>
              </a:extLst>
            </p:cNvPr>
            <p:cNvSpPr/>
            <p:nvPr/>
          </p:nvSpPr>
          <p:spPr>
            <a:xfrm>
              <a:off x="1031629" y="1864859"/>
              <a:ext cx="197832" cy="232760"/>
            </a:xfrm>
            <a:custGeom>
              <a:avLst/>
              <a:gdLst/>
              <a:ahLst/>
              <a:cxnLst/>
              <a:rect l="l" t="t" r="r" b="b"/>
              <a:pathLst>
                <a:path w="1978320" h="2327603" extrusionOk="0">
                  <a:moveTo>
                    <a:pt x="1977656" y="1140566"/>
                  </a:moveTo>
                  <a:lnTo>
                    <a:pt x="0" y="0"/>
                  </a:lnTo>
                  <a:lnTo>
                    <a:pt x="665" y="1029696"/>
                  </a:lnTo>
                  <a:lnTo>
                    <a:pt x="1803548" y="2069350"/>
                  </a:lnTo>
                  <a:lnTo>
                    <a:pt x="1978320" y="2327604"/>
                  </a:lnTo>
                  <a:lnTo>
                    <a:pt x="1977656" y="114056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921;p46">
              <a:extLst>
                <a:ext uri="{FF2B5EF4-FFF2-40B4-BE49-F238E27FC236}">
                  <a16:creationId xmlns:a16="http://schemas.microsoft.com/office/drawing/2014/main" id="{7CBEFED6-8F2A-3D48-8D0A-9A077795947D}"/>
                </a:ext>
              </a:extLst>
            </p:cNvPr>
            <p:cNvSpPr/>
            <p:nvPr/>
          </p:nvSpPr>
          <p:spPr>
            <a:xfrm>
              <a:off x="1010626" y="1877041"/>
              <a:ext cx="74627" cy="70970"/>
            </a:xfrm>
            <a:custGeom>
              <a:avLst/>
              <a:gdLst/>
              <a:ahLst/>
              <a:cxnLst/>
              <a:rect l="l" t="t" r="r" b="b"/>
              <a:pathLst>
                <a:path w="746272" h="709700" extrusionOk="0">
                  <a:moveTo>
                    <a:pt x="0" y="279498"/>
                  </a:moveTo>
                  <a:lnTo>
                    <a:pt x="0" y="0"/>
                  </a:lnTo>
                  <a:lnTo>
                    <a:pt x="746273" y="430202"/>
                  </a:lnTo>
                  <a:lnTo>
                    <a:pt x="746273" y="709700"/>
                  </a:lnTo>
                  <a:lnTo>
                    <a:pt x="0" y="27949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922;p46">
              <a:extLst>
                <a:ext uri="{FF2B5EF4-FFF2-40B4-BE49-F238E27FC236}">
                  <a16:creationId xmlns:a16="http://schemas.microsoft.com/office/drawing/2014/main" id="{422DF5F4-B23B-2F4B-8A93-9D4F01B57E34}"/>
                </a:ext>
              </a:extLst>
            </p:cNvPr>
            <p:cNvSpPr/>
            <p:nvPr/>
          </p:nvSpPr>
          <p:spPr>
            <a:xfrm>
              <a:off x="1134925" y="1949468"/>
              <a:ext cx="43328" cy="33991"/>
            </a:xfrm>
            <a:custGeom>
              <a:avLst/>
              <a:gdLst/>
              <a:ahLst/>
              <a:cxnLst/>
              <a:rect l="l" t="t" r="r" b="b"/>
              <a:pathLst>
                <a:path w="433276" h="339912" extrusionOk="0">
                  <a:moveTo>
                    <a:pt x="433277" y="249623"/>
                  </a:moveTo>
                  <a:lnTo>
                    <a:pt x="0" y="0"/>
                  </a:lnTo>
                  <a:lnTo>
                    <a:pt x="0" y="90290"/>
                  </a:lnTo>
                  <a:lnTo>
                    <a:pt x="433277" y="339913"/>
                  </a:lnTo>
                  <a:lnTo>
                    <a:pt x="433277" y="249623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923;p46">
              <a:extLst>
                <a:ext uri="{FF2B5EF4-FFF2-40B4-BE49-F238E27FC236}">
                  <a16:creationId xmlns:a16="http://schemas.microsoft.com/office/drawing/2014/main" id="{E5BA8E00-389C-A048-BB2F-A953F3F82CD5}"/>
                </a:ext>
              </a:extLst>
            </p:cNvPr>
            <p:cNvSpPr/>
            <p:nvPr/>
          </p:nvSpPr>
          <p:spPr>
            <a:xfrm>
              <a:off x="1094839" y="1944436"/>
              <a:ext cx="83532" cy="57161"/>
            </a:xfrm>
            <a:custGeom>
              <a:avLst/>
              <a:gdLst/>
              <a:ahLst/>
              <a:cxnLst/>
              <a:rect l="l" t="t" r="r" b="b"/>
              <a:pathLst>
                <a:path w="835320" h="571610" extrusionOk="0">
                  <a:moveTo>
                    <a:pt x="835320" y="48132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835320" y="571611"/>
                  </a:lnTo>
                  <a:lnTo>
                    <a:pt x="835320" y="48132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924;p46">
              <a:extLst>
                <a:ext uri="{FF2B5EF4-FFF2-40B4-BE49-F238E27FC236}">
                  <a16:creationId xmlns:a16="http://schemas.microsoft.com/office/drawing/2014/main" id="{CC4BB8FD-282A-9641-8DAA-928035774DB6}"/>
                </a:ext>
              </a:extLst>
            </p:cNvPr>
            <p:cNvSpPr/>
            <p:nvPr/>
          </p:nvSpPr>
          <p:spPr>
            <a:xfrm>
              <a:off x="1077281" y="1952249"/>
              <a:ext cx="101209" cy="67385"/>
            </a:xfrm>
            <a:custGeom>
              <a:avLst/>
              <a:gdLst/>
              <a:ahLst/>
              <a:cxnLst/>
              <a:rect l="l" t="t" r="r" b="b"/>
              <a:pathLst>
                <a:path w="1012086" h="673849" extrusionOk="0">
                  <a:moveTo>
                    <a:pt x="1011422" y="58356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1012087" y="673850"/>
                  </a:lnTo>
                  <a:lnTo>
                    <a:pt x="1011422" y="58356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925;p46">
              <a:extLst>
                <a:ext uri="{FF2B5EF4-FFF2-40B4-BE49-F238E27FC236}">
                  <a16:creationId xmlns:a16="http://schemas.microsoft.com/office/drawing/2014/main" id="{40291C7B-95A9-0145-8DD5-6A3FD330B7A4}"/>
                </a:ext>
              </a:extLst>
            </p:cNvPr>
            <p:cNvSpPr/>
            <p:nvPr/>
          </p:nvSpPr>
          <p:spPr>
            <a:xfrm>
              <a:off x="1188792" y="1979734"/>
              <a:ext cx="22462" cy="33373"/>
            </a:xfrm>
            <a:custGeom>
              <a:avLst/>
              <a:gdLst/>
              <a:ahLst/>
              <a:cxnLst/>
              <a:rect l="l" t="t" r="r" b="b"/>
              <a:pathLst>
                <a:path w="224619" h="333730" extrusionOk="0">
                  <a:moveTo>
                    <a:pt x="6" y="102136"/>
                  </a:moveTo>
                  <a:cubicBezTo>
                    <a:pt x="6" y="187114"/>
                    <a:pt x="50511" y="284706"/>
                    <a:pt x="112313" y="320556"/>
                  </a:cubicBezTo>
                  <a:cubicBezTo>
                    <a:pt x="174115" y="356406"/>
                    <a:pt x="224619" y="316573"/>
                    <a:pt x="224619" y="231595"/>
                  </a:cubicBezTo>
                  <a:cubicBezTo>
                    <a:pt x="224619" y="146616"/>
                    <a:pt x="174115" y="49025"/>
                    <a:pt x="112313" y="13174"/>
                  </a:cubicBezTo>
                  <a:cubicBezTo>
                    <a:pt x="49847" y="-22676"/>
                    <a:pt x="-658" y="17157"/>
                    <a:pt x="6" y="1021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926;p46">
              <a:extLst>
                <a:ext uri="{FF2B5EF4-FFF2-40B4-BE49-F238E27FC236}">
                  <a16:creationId xmlns:a16="http://schemas.microsoft.com/office/drawing/2014/main" id="{672F09F6-96ED-CD46-A005-E605D5FB885D}"/>
                </a:ext>
              </a:extLst>
            </p:cNvPr>
            <p:cNvSpPr/>
            <p:nvPr/>
          </p:nvSpPr>
          <p:spPr>
            <a:xfrm>
              <a:off x="1046537" y="1669527"/>
              <a:ext cx="55555" cy="75611"/>
            </a:xfrm>
            <a:custGeom>
              <a:avLst/>
              <a:gdLst/>
              <a:ahLst/>
              <a:cxnLst/>
              <a:rect l="l" t="t" r="r" b="b"/>
              <a:pathLst>
                <a:path w="555551" h="756106" extrusionOk="0">
                  <a:moveTo>
                    <a:pt x="277776" y="9593"/>
                  </a:moveTo>
                  <a:cubicBezTo>
                    <a:pt x="317648" y="32166"/>
                    <a:pt x="349545" y="87932"/>
                    <a:pt x="349545" y="133741"/>
                  </a:cubicBezTo>
                  <a:lnTo>
                    <a:pt x="349545" y="336228"/>
                  </a:lnTo>
                  <a:lnTo>
                    <a:pt x="483781" y="413239"/>
                  </a:lnTo>
                  <a:cubicBezTo>
                    <a:pt x="523653" y="435812"/>
                    <a:pt x="555551" y="491579"/>
                    <a:pt x="555551" y="537387"/>
                  </a:cubicBezTo>
                  <a:cubicBezTo>
                    <a:pt x="555551" y="583196"/>
                    <a:pt x="523653" y="601785"/>
                    <a:pt x="483781" y="579212"/>
                  </a:cubicBezTo>
                  <a:lnTo>
                    <a:pt x="349545" y="502201"/>
                  </a:lnTo>
                  <a:lnTo>
                    <a:pt x="349545" y="704688"/>
                  </a:lnTo>
                  <a:cubicBezTo>
                    <a:pt x="349545" y="750496"/>
                    <a:pt x="317648" y="769085"/>
                    <a:pt x="277776" y="746513"/>
                  </a:cubicBezTo>
                  <a:cubicBezTo>
                    <a:pt x="237903" y="723941"/>
                    <a:pt x="206006" y="668174"/>
                    <a:pt x="206006" y="622365"/>
                  </a:cubicBezTo>
                  <a:lnTo>
                    <a:pt x="206006" y="419878"/>
                  </a:lnTo>
                  <a:lnTo>
                    <a:pt x="71770" y="342867"/>
                  </a:lnTo>
                  <a:cubicBezTo>
                    <a:pt x="31898" y="320295"/>
                    <a:pt x="0" y="264528"/>
                    <a:pt x="0" y="218719"/>
                  </a:cubicBezTo>
                  <a:cubicBezTo>
                    <a:pt x="0" y="172911"/>
                    <a:pt x="31898" y="154322"/>
                    <a:pt x="71770" y="176894"/>
                  </a:cubicBezTo>
                  <a:lnTo>
                    <a:pt x="206006" y="253905"/>
                  </a:lnTo>
                  <a:lnTo>
                    <a:pt x="206006" y="51418"/>
                  </a:lnTo>
                  <a:cubicBezTo>
                    <a:pt x="206006" y="5610"/>
                    <a:pt x="237903" y="-12979"/>
                    <a:pt x="277776" y="95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162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163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16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ctrTitle" idx="4294967295"/>
          </p:nvPr>
        </p:nvSpPr>
        <p:spPr>
          <a:xfrm>
            <a:off x="855300" y="1813925"/>
            <a:ext cx="2809800" cy="15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5+ YEARS</a:t>
            </a:r>
            <a:endParaRPr sz="4800"/>
          </a:p>
        </p:txBody>
      </p:sp>
      <p:sp>
        <p:nvSpPr>
          <p:cNvPr id="225" name="Google Shape;225;p17"/>
          <p:cNvSpPr txBox="1">
            <a:spLocks noGrp="1"/>
          </p:cNvSpPr>
          <p:nvPr>
            <p:ph type="subTitle" idx="4294967295"/>
          </p:nvPr>
        </p:nvSpPr>
        <p:spPr>
          <a:xfrm>
            <a:off x="3665100" y="1813925"/>
            <a:ext cx="2386200" cy="15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Building and securing enterprise cloud and hybrid infrastructure across AWS, Azure, and GCP</a:t>
            </a:r>
            <a:endParaRPr sz="2000"/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9FFAB22B-D793-2D4F-B073-773ACEB505B9}"/>
              </a:ext>
            </a:extLst>
          </p:cNvPr>
          <p:cNvGrpSpPr/>
          <p:nvPr/>
        </p:nvGrpSpPr>
        <p:grpSpPr>
          <a:xfrm>
            <a:off x="5174828" y="491833"/>
            <a:ext cx="3777372" cy="4655473"/>
            <a:chOff x="2522057" y="2360511"/>
            <a:chExt cx="554801" cy="683772"/>
          </a:xfrm>
        </p:grpSpPr>
        <p:sp>
          <p:nvSpPr>
            <p:cNvPr id="62" name="Google Shape;986;p46">
              <a:extLst>
                <a:ext uri="{FF2B5EF4-FFF2-40B4-BE49-F238E27FC236}">
                  <a16:creationId xmlns:a16="http://schemas.microsoft.com/office/drawing/2014/main" id="{4F7AED75-8870-594A-9BF2-56288195E82B}"/>
                </a:ext>
              </a:extLst>
            </p:cNvPr>
            <p:cNvSpPr/>
            <p:nvPr/>
          </p:nvSpPr>
          <p:spPr>
            <a:xfrm>
              <a:off x="2766348" y="2360511"/>
              <a:ext cx="101967" cy="369432"/>
            </a:xfrm>
            <a:custGeom>
              <a:avLst/>
              <a:gdLst/>
              <a:ahLst/>
              <a:cxnLst/>
              <a:rect l="l" t="t" r="r" b="b"/>
              <a:pathLst>
                <a:path w="1019671" h="3694319" extrusionOk="0">
                  <a:moveTo>
                    <a:pt x="399309" y="3567369"/>
                  </a:moveTo>
                  <a:cubicBezTo>
                    <a:pt x="-431720" y="380179"/>
                    <a:pt x="251391" y="108815"/>
                    <a:pt x="510247" y="0"/>
                  </a:cubicBezTo>
                  <a:cubicBezTo>
                    <a:pt x="768430" y="407047"/>
                    <a:pt x="1451541" y="1465637"/>
                    <a:pt x="619840" y="3694320"/>
                  </a:cubicBezTo>
                  <a:lnTo>
                    <a:pt x="399309" y="3567369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987;p46">
              <a:extLst>
                <a:ext uri="{FF2B5EF4-FFF2-40B4-BE49-F238E27FC236}">
                  <a16:creationId xmlns:a16="http://schemas.microsoft.com/office/drawing/2014/main" id="{63C7C596-1DF4-034D-9679-040028249AF9}"/>
                </a:ext>
              </a:extLst>
            </p:cNvPr>
            <p:cNvSpPr/>
            <p:nvPr/>
          </p:nvSpPr>
          <p:spPr>
            <a:xfrm>
              <a:off x="2820104" y="2635875"/>
              <a:ext cx="36888" cy="103575"/>
            </a:xfrm>
            <a:custGeom>
              <a:avLst/>
              <a:gdLst/>
              <a:ahLst/>
              <a:cxnLst/>
              <a:rect l="l" t="t" r="r" b="b"/>
              <a:pathLst>
                <a:path w="368879" h="1035752" extrusionOk="0">
                  <a:moveTo>
                    <a:pt x="0" y="621989"/>
                  </a:moveTo>
                  <a:cubicBezTo>
                    <a:pt x="115645" y="766403"/>
                    <a:pt x="244064" y="924923"/>
                    <a:pt x="334159" y="1035753"/>
                  </a:cubicBezTo>
                  <a:cubicBezTo>
                    <a:pt x="434340" y="734834"/>
                    <a:pt x="300542" y="314353"/>
                    <a:pt x="151279" y="0"/>
                  </a:cubicBezTo>
                  <a:cubicBezTo>
                    <a:pt x="115645" y="195463"/>
                    <a:pt x="65891" y="402345"/>
                    <a:pt x="0" y="6219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988;p46">
              <a:extLst>
                <a:ext uri="{FF2B5EF4-FFF2-40B4-BE49-F238E27FC236}">
                  <a16:creationId xmlns:a16="http://schemas.microsoft.com/office/drawing/2014/main" id="{126FB32F-7AEF-ED46-BBFD-0C04DFBE30BD}"/>
                </a:ext>
              </a:extLst>
            </p:cNvPr>
            <p:cNvSpPr/>
            <p:nvPr/>
          </p:nvSpPr>
          <p:spPr>
            <a:xfrm>
              <a:off x="2728277" y="2586844"/>
              <a:ext cx="36831" cy="82417"/>
            </a:xfrm>
            <a:custGeom>
              <a:avLst/>
              <a:gdLst/>
              <a:ahLst/>
              <a:cxnLst/>
              <a:rect l="l" t="t" r="r" b="b"/>
              <a:pathLst>
                <a:path w="368315" h="824169" extrusionOk="0">
                  <a:moveTo>
                    <a:pt x="216364" y="0"/>
                  </a:moveTo>
                  <a:cubicBezTo>
                    <a:pt x="67774" y="142399"/>
                    <a:pt x="-65352" y="408390"/>
                    <a:pt x="34828" y="824169"/>
                  </a:cubicBezTo>
                  <a:cubicBezTo>
                    <a:pt x="124924" y="816780"/>
                    <a:pt x="252671" y="806705"/>
                    <a:pt x="368315" y="795958"/>
                  </a:cubicBezTo>
                  <a:cubicBezTo>
                    <a:pt x="302425" y="500412"/>
                    <a:pt x="252671" y="236437"/>
                    <a:pt x="216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989;p46">
              <a:extLst>
                <a:ext uri="{FF2B5EF4-FFF2-40B4-BE49-F238E27FC236}">
                  <a16:creationId xmlns:a16="http://schemas.microsoft.com/office/drawing/2014/main" id="{C545BD45-6B5E-2445-8198-926848537627}"/>
                </a:ext>
              </a:extLst>
            </p:cNvPr>
            <p:cNvSpPr/>
            <p:nvPr/>
          </p:nvSpPr>
          <p:spPr>
            <a:xfrm>
              <a:off x="2741962" y="2378797"/>
              <a:ext cx="101951" cy="369432"/>
            </a:xfrm>
            <a:custGeom>
              <a:avLst/>
              <a:gdLst/>
              <a:ahLst/>
              <a:cxnLst/>
              <a:rect l="l" t="t" r="r" b="b"/>
              <a:pathLst>
                <a:path w="1019507" h="3694319" extrusionOk="0">
                  <a:moveTo>
                    <a:pt x="399145" y="3567369"/>
                  </a:moveTo>
                  <a:cubicBezTo>
                    <a:pt x="-431884" y="379507"/>
                    <a:pt x="251899" y="108815"/>
                    <a:pt x="510083" y="0"/>
                  </a:cubicBezTo>
                  <a:cubicBezTo>
                    <a:pt x="768266" y="407047"/>
                    <a:pt x="1451377" y="1465637"/>
                    <a:pt x="619676" y="3694319"/>
                  </a:cubicBezTo>
                  <a:lnTo>
                    <a:pt x="399145" y="356736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99000">
                  <a:srgbClr val="FFFFFF">
                    <a:alpha val="1000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990;p46">
              <a:extLst>
                <a:ext uri="{FF2B5EF4-FFF2-40B4-BE49-F238E27FC236}">
                  <a16:creationId xmlns:a16="http://schemas.microsoft.com/office/drawing/2014/main" id="{4A6B70B2-8A88-7A4E-BA19-25C7722FF28D}"/>
                </a:ext>
              </a:extLst>
            </p:cNvPr>
            <p:cNvSpPr/>
            <p:nvPr/>
          </p:nvSpPr>
          <p:spPr>
            <a:xfrm>
              <a:off x="2792820" y="2378797"/>
              <a:ext cx="50942" cy="369432"/>
            </a:xfrm>
            <a:custGeom>
              <a:avLst/>
              <a:gdLst/>
              <a:ahLst/>
              <a:cxnLst/>
              <a:rect l="l" t="t" r="r" b="b"/>
              <a:pathLst>
                <a:path w="509424" h="3694319" extrusionOk="0">
                  <a:moveTo>
                    <a:pt x="109593" y="3694319"/>
                  </a:moveTo>
                  <a:cubicBezTo>
                    <a:pt x="941294" y="1465637"/>
                    <a:pt x="258183" y="407047"/>
                    <a:pt x="0" y="0"/>
                  </a:cubicBezTo>
                  <a:lnTo>
                    <a:pt x="0" y="3631180"/>
                  </a:lnTo>
                  <a:lnTo>
                    <a:pt x="109593" y="369431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991;p46">
              <a:extLst>
                <a:ext uri="{FF2B5EF4-FFF2-40B4-BE49-F238E27FC236}">
                  <a16:creationId xmlns:a16="http://schemas.microsoft.com/office/drawing/2014/main" id="{715DA607-C3A9-A343-82BD-CA4C480733B4}"/>
                </a:ext>
              </a:extLst>
            </p:cNvPr>
            <p:cNvSpPr/>
            <p:nvPr/>
          </p:nvSpPr>
          <p:spPr>
            <a:xfrm>
              <a:off x="2766542" y="2437997"/>
              <a:ext cx="51099" cy="76263"/>
            </a:xfrm>
            <a:custGeom>
              <a:avLst/>
              <a:gdLst/>
              <a:ahLst/>
              <a:cxnLst/>
              <a:rect l="l" t="t" r="r" b="b"/>
              <a:pathLst>
                <a:path w="510988" h="762629" extrusionOk="0">
                  <a:moveTo>
                    <a:pt x="510988" y="528752"/>
                  </a:moveTo>
                  <a:cubicBezTo>
                    <a:pt x="510988" y="722871"/>
                    <a:pt x="396688" y="814222"/>
                    <a:pt x="255494" y="732947"/>
                  </a:cubicBezTo>
                  <a:cubicBezTo>
                    <a:pt x="114300" y="651672"/>
                    <a:pt x="0" y="427997"/>
                    <a:pt x="0" y="233878"/>
                  </a:cubicBezTo>
                  <a:cubicBezTo>
                    <a:pt x="0" y="39758"/>
                    <a:pt x="114300" y="-51592"/>
                    <a:pt x="255494" y="29683"/>
                  </a:cubicBezTo>
                  <a:cubicBezTo>
                    <a:pt x="396688" y="110958"/>
                    <a:pt x="510988" y="334632"/>
                    <a:pt x="510988" y="52875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992;p46">
              <a:extLst>
                <a:ext uri="{FF2B5EF4-FFF2-40B4-BE49-F238E27FC236}">
                  <a16:creationId xmlns:a16="http://schemas.microsoft.com/office/drawing/2014/main" id="{B00B8D24-021D-084F-BEFA-D6E6EAF482D4}"/>
                </a:ext>
              </a:extLst>
            </p:cNvPr>
            <p:cNvSpPr/>
            <p:nvPr/>
          </p:nvSpPr>
          <p:spPr>
            <a:xfrm>
              <a:off x="2631998" y="2761138"/>
              <a:ext cx="294222" cy="283145"/>
            </a:xfrm>
            <a:custGeom>
              <a:avLst/>
              <a:gdLst/>
              <a:ahLst/>
              <a:cxnLst/>
              <a:rect l="l" t="t" r="r" b="b"/>
              <a:pathLst>
                <a:path w="2942216" h="2831453" extrusionOk="0">
                  <a:moveTo>
                    <a:pt x="1809974" y="581624"/>
                  </a:moveTo>
                  <a:cubicBezTo>
                    <a:pt x="1751479" y="486244"/>
                    <a:pt x="1723241" y="365339"/>
                    <a:pt x="1698363" y="259211"/>
                  </a:cubicBezTo>
                  <a:cubicBezTo>
                    <a:pt x="1669452" y="136962"/>
                    <a:pt x="1645248" y="32850"/>
                    <a:pt x="1584736" y="6654"/>
                  </a:cubicBezTo>
                  <a:cubicBezTo>
                    <a:pt x="1515484" y="-23573"/>
                    <a:pt x="1484555" y="53001"/>
                    <a:pt x="1440852" y="159128"/>
                  </a:cubicBezTo>
                  <a:lnTo>
                    <a:pt x="1440852" y="159128"/>
                  </a:lnTo>
                  <a:cubicBezTo>
                    <a:pt x="1415303" y="221596"/>
                    <a:pt x="1385047" y="295482"/>
                    <a:pt x="1340672" y="363323"/>
                  </a:cubicBezTo>
                  <a:cubicBezTo>
                    <a:pt x="1292935" y="312946"/>
                    <a:pt x="1242508" y="271301"/>
                    <a:pt x="1189392" y="241075"/>
                  </a:cubicBezTo>
                  <a:cubicBezTo>
                    <a:pt x="966844" y="112781"/>
                    <a:pt x="781274" y="223611"/>
                    <a:pt x="737571" y="488259"/>
                  </a:cubicBezTo>
                  <a:cubicBezTo>
                    <a:pt x="707315" y="465421"/>
                    <a:pt x="677059" y="444598"/>
                    <a:pt x="646131" y="426463"/>
                  </a:cubicBezTo>
                  <a:cubicBezTo>
                    <a:pt x="289112" y="220924"/>
                    <a:pt x="0" y="454002"/>
                    <a:pt x="0" y="948369"/>
                  </a:cubicBezTo>
                  <a:cubicBezTo>
                    <a:pt x="0" y="1442065"/>
                    <a:pt x="289112" y="2008975"/>
                    <a:pt x="645459" y="2214513"/>
                  </a:cubicBezTo>
                  <a:cubicBezTo>
                    <a:pt x="991721" y="2414007"/>
                    <a:pt x="1274781" y="2199736"/>
                    <a:pt x="1290918" y="1735595"/>
                  </a:cubicBezTo>
                  <a:cubicBezTo>
                    <a:pt x="1356136" y="1856500"/>
                    <a:pt x="1442869" y="1957926"/>
                    <a:pt x="1539016" y="2013005"/>
                  </a:cubicBezTo>
                  <a:cubicBezTo>
                    <a:pt x="1563893" y="2027110"/>
                    <a:pt x="1588098" y="2037858"/>
                    <a:pt x="1610958" y="2044575"/>
                  </a:cubicBezTo>
                  <a:cubicBezTo>
                    <a:pt x="1749462" y="2348852"/>
                    <a:pt x="1955875" y="2610813"/>
                    <a:pt x="2186492" y="2743808"/>
                  </a:cubicBezTo>
                  <a:cubicBezTo>
                    <a:pt x="2603351" y="2984275"/>
                    <a:pt x="2941544" y="2712911"/>
                    <a:pt x="2942216" y="2137940"/>
                  </a:cubicBezTo>
                  <a:cubicBezTo>
                    <a:pt x="2942216" y="1562970"/>
                    <a:pt x="2604023" y="901351"/>
                    <a:pt x="2187164" y="660884"/>
                  </a:cubicBezTo>
                  <a:cubicBezTo>
                    <a:pt x="2049332" y="581624"/>
                    <a:pt x="1920912" y="557443"/>
                    <a:pt x="1809974" y="58162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9607"/>
                    <a:alpha val="29800"/>
                  </a:srgbClr>
                </a:gs>
                <a:gs pos="5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72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993;p46">
              <a:extLst>
                <a:ext uri="{FF2B5EF4-FFF2-40B4-BE49-F238E27FC236}">
                  <a16:creationId xmlns:a16="http://schemas.microsoft.com/office/drawing/2014/main" id="{ED3D7B77-F48A-9045-8F91-974803CCB03A}"/>
                </a:ext>
              </a:extLst>
            </p:cNvPr>
            <p:cNvSpPr/>
            <p:nvPr/>
          </p:nvSpPr>
          <p:spPr>
            <a:xfrm>
              <a:off x="2879432" y="2599839"/>
              <a:ext cx="182073" cy="199762"/>
            </a:xfrm>
            <a:custGeom>
              <a:avLst/>
              <a:gdLst/>
              <a:ahLst/>
              <a:cxnLst/>
              <a:rect l="l" t="t" r="r" b="b"/>
              <a:pathLst>
                <a:path w="1820731" h="1997618" extrusionOk="0">
                  <a:moveTo>
                    <a:pt x="0" y="0"/>
                  </a:moveTo>
                  <a:lnTo>
                    <a:pt x="1820059" y="1049858"/>
                  </a:lnTo>
                  <a:lnTo>
                    <a:pt x="1820732" y="1997619"/>
                  </a:lnTo>
                  <a:lnTo>
                    <a:pt x="161365" y="1040454"/>
                  </a:lnTo>
                  <a:lnTo>
                    <a:pt x="673" y="109284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994;p46">
              <a:extLst>
                <a:ext uri="{FF2B5EF4-FFF2-40B4-BE49-F238E27FC236}">
                  <a16:creationId xmlns:a16="http://schemas.microsoft.com/office/drawing/2014/main" id="{CB5A71EA-5060-9541-85A0-7035B079DC2D}"/>
                </a:ext>
              </a:extLst>
            </p:cNvPr>
            <p:cNvSpPr/>
            <p:nvPr/>
          </p:nvSpPr>
          <p:spPr>
            <a:xfrm>
              <a:off x="3008144" y="2695490"/>
              <a:ext cx="68714" cy="65356"/>
            </a:xfrm>
            <a:custGeom>
              <a:avLst/>
              <a:gdLst/>
              <a:ahLst/>
              <a:cxnLst/>
              <a:rect l="l" t="t" r="r" b="b"/>
              <a:pathLst>
                <a:path w="687144" h="653558" extrusionOk="0">
                  <a:moveTo>
                    <a:pt x="0" y="257259"/>
                  </a:moveTo>
                  <a:lnTo>
                    <a:pt x="0" y="0"/>
                  </a:lnTo>
                  <a:lnTo>
                    <a:pt x="687145" y="396300"/>
                  </a:lnTo>
                  <a:lnTo>
                    <a:pt x="687145" y="653559"/>
                  </a:lnTo>
                  <a:lnTo>
                    <a:pt x="0" y="25725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995;p46">
              <a:extLst>
                <a:ext uri="{FF2B5EF4-FFF2-40B4-BE49-F238E27FC236}">
                  <a16:creationId xmlns:a16="http://schemas.microsoft.com/office/drawing/2014/main" id="{09ED661A-2CD9-5642-A750-F9F69B08C29B}"/>
                </a:ext>
              </a:extLst>
            </p:cNvPr>
            <p:cNvSpPr/>
            <p:nvPr/>
          </p:nvSpPr>
          <p:spPr>
            <a:xfrm>
              <a:off x="2926090" y="2649741"/>
              <a:ext cx="39871" cy="31301"/>
            </a:xfrm>
            <a:custGeom>
              <a:avLst/>
              <a:gdLst/>
              <a:ahLst/>
              <a:cxnLst/>
              <a:rect l="l" t="t" r="r" b="b"/>
              <a:pathLst>
                <a:path w="398705" h="313009" extrusionOk="0">
                  <a:moveTo>
                    <a:pt x="0" y="0"/>
                  </a:moveTo>
                  <a:lnTo>
                    <a:pt x="398705" y="229719"/>
                  </a:lnTo>
                  <a:lnTo>
                    <a:pt x="398705" y="313009"/>
                  </a:lnTo>
                  <a:lnTo>
                    <a:pt x="0" y="83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996;p46">
              <a:extLst>
                <a:ext uri="{FF2B5EF4-FFF2-40B4-BE49-F238E27FC236}">
                  <a16:creationId xmlns:a16="http://schemas.microsoft.com/office/drawing/2014/main" id="{2370F091-B8B0-BC49-9D0A-0C6290D84A6C}"/>
                </a:ext>
              </a:extLst>
            </p:cNvPr>
            <p:cNvSpPr/>
            <p:nvPr/>
          </p:nvSpPr>
          <p:spPr>
            <a:xfrm>
              <a:off x="2926157" y="2666352"/>
              <a:ext cx="71942" cy="49840"/>
            </a:xfrm>
            <a:custGeom>
              <a:avLst/>
              <a:gdLst/>
              <a:ahLst/>
              <a:cxnLst/>
              <a:rect l="l" t="t" r="r" b="b"/>
              <a:pathLst>
                <a:path w="719417" h="498397" extrusionOk="0">
                  <a:moveTo>
                    <a:pt x="0" y="0"/>
                  </a:moveTo>
                  <a:lnTo>
                    <a:pt x="719418" y="415107"/>
                  </a:lnTo>
                  <a:lnTo>
                    <a:pt x="719418" y="498397"/>
                  </a:lnTo>
                  <a:lnTo>
                    <a:pt x="0" y="83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997;p46">
              <a:extLst>
                <a:ext uri="{FF2B5EF4-FFF2-40B4-BE49-F238E27FC236}">
                  <a16:creationId xmlns:a16="http://schemas.microsoft.com/office/drawing/2014/main" id="{9560CBA4-987C-4640-8175-E6D3C66C91AD}"/>
                </a:ext>
              </a:extLst>
            </p:cNvPr>
            <p:cNvSpPr/>
            <p:nvPr/>
          </p:nvSpPr>
          <p:spPr>
            <a:xfrm>
              <a:off x="2926157" y="2682964"/>
              <a:ext cx="93121" cy="62065"/>
            </a:xfrm>
            <a:custGeom>
              <a:avLst/>
              <a:gdLst/>
              <a:ahLst/>
              <a:cxnLst/>
              <a:rect l="l" t="t" r="r" b="b"/>
              <a:pathLst>
                <a:path w="931208" h="620645" extrusionOk="0">
                  <a:moveTo>
                    <a:pt x="0" y="0"/>
                  </a:moveTo>
                  <a:lnTo>
                    <a:pt x="931209" y="537356"/>
                  </a:lnTo>
                  <a:lnTo>
                    <a:pt x="931209" y="620646"/>
                  </a:lnTo>
                  <a:lnTo>
                    <a:pt x="0" y="83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998;p46">
              <a:extLst>
                <a:ext uri="{FF2B5EF4-FFF2-40B4-BE49-F238E27FC236}">
                  <a16:creationId xmlns:a16="http://schemas.microsoft.com/office/drawing/2014/main" id="{4B90DAA9-EC5E-514C-95A2-CCB511FDC9A3}"/>
                </a:ext>
              </a:extLst>
            </p:cNvPr>
            <p:cNvSpPr/>
            <p:nvPr/>
          </p:nvSpPr>
          <p:spPr>
            <a:xfrm>
              <a:off x="2895655" y="2631527"/>
              <a:ext cx="20708" cy="30686"/>
            </a:xfrm>
            <a:custGeom>
              <a:avLst/>
              <a:gdLst/>
              <a:ahLst/>
              <a:cxnLst/>
              <a:rect l="l" t="t" r="r" b="b"/>
              <a:pathLst>
                <a:path w="207084" h="306860" extrusionOk="0">
                  <a:moveTo>
                    <a:pt x="207085" y="212875"/>
                  </a:moveTo>
                  <a:cubicBezTo>
                    <a:pt x="207085" y="290792"/>
                    <a:pt x="160693" y="327735"/>
                    <a:pt x="103543" y="294822"/>
                  </a:cubicBezTo>
                  <a:cubicBezTo>
                    <a:pt x="46393" y="261909"/>
                    <a:pt x="0" y="171902"/>
                    <a:pt x="0" y="93985"/>
                  </a:cubicBezTo>
                  <a:cubicBezTo>
                    <a:pt x="0" y="16069"/>
                    <a:pt x="46393" y="-20874"/>
                    <a:pt x="103543" y="12039"/>
                  </a:cubicBezTo>
                  <a:cubicBezTo>
                    <a:pt x="161365" y="44952"/>
                    <a:pt x="207085" y="134959"/>
                    <a:pt x="207085" y="2128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999;p46">
              <a:extLst>
                <a:ext uri="{FF2B5EF4-FFF2-40B4-BE49-F238E27FC236}">
                  <a16:creationId xmlns:a16="http://schemas.microsoft.com/office/drawing/2014/main" id="{E294ADE3-A807-3046-B287-7C3DBC95E3AD}"/>
                </a:ext>
              </a:extLst>
            </p:cNvPr>
            <p:cNvSpPr/>
            <p:nvPr/>
          </p:nvSpPr>
          <p:spPr>
            <a:xfrm>
              <a:off x="2541431" y="2361717"/>
              <a:ext cx="182073" cy="214203"/>
            </a:xfrm>
            <a:custGeom>
              <a:avLst/>
              <a:gdLst/>
              <a:ahLst/>
              <a:cxnLst/>
              <a:rect l="l" t="t" r="r" b="b"/>
              <a:pathLst>
                <a:path w="1820731" h="2142033" extrusionOk="0">
                  <a:moveTo>
                    <a:pt x="1820059" y="1049187"/>
                  </a:moveTo>
                  <a:lnTo>
                    <a:pt x="0" y="0"/>
                  </a:lnTo>
                  <a:lnTo>
                    <a:pt x="672" y="947761"/>
                  </a:lnTo>
                  <a:lnTo>
                    <a:pt x="1660039" y="1904254"/>
                  </a:lnTo>
                  <a:lnTo>
                    <a:pt x="1820732" y="2142034"/>
                  </a:lnTo>
                  <a:lnTo>
                    <a:pt x="1820059" y="104918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000;p46">
              <a:extLst>
                <a:ext uri="{FF2B5EF4-FFF2-40B4-BE49-F238E27FC236}">
                  <a16:creationId xmlns:a16="http://schemas.microsoft.com/office/drawing/2014/main" id="{66C0336F-1E09-7D47-A286-C7252EA85072}"/>
                </a:ext>
              </a:extLst>
            </p:cNvPr>
            <p:cNvSpPr/>
            <p:nvPr/>
          </p:nvSpPr>
          <p:spPr>
            <a:xfrm>
              <a:off x="2522057" y="2372903"/>
              <a:ext cx="68714" cy="65356"/>
            </a:xfrm>
            <a:custGeom>
              <a:avLst/>
              <a:gdLst/>
              <a:ahLst/>
              <a:cxnLst/>
              <a:rect l="l" t="t" r="r" b="b"/>
              <a:pathLst>
                <a:path w="687144" h="653558" extrusionOk="0">
                  <a:moveTo>
                    <a:pt x="0" y="257259"/>
                  </a:moveTo>
                  <a:lnTo>
                    <a:pt x="0" y="0"/>
                  </a:lnTo>
                  <a:lnTo>
                    <a:pt x="687145" y="396300"/>
                  </a:lnTo>
                  <a:lnTo>
                    <a:pt x="687145" y="653559"/>
                  </a:lnTo>
                  <a:lnTo>
                    <a:pt x="0" y="2572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001;p46">
              <a:extLst>
                <a:ext uri="{FF2B5EF4-FFF2-40B4-BE49-F238E27FC236}">
                  <a16:creationId xmlns:a16="http://schemas.microsoft.com/office/drawing/2014/main" id="{05AF33E7-83CF-6649-9D64-87186AB0CDD8}"/>
                </a:ext>
              </a:extLst>
            </p:cNvPr>
            <p:cNvSpPr/>
            <p:nvPr/>
          </p:nvSpPr>
          <p:spPr>
            <a:xfrm>
              <a:off x="2636490" y="2439550"/>
              <a:ext cx="39871" cy="31301"/>
            </a:xfrm>
            <a:custGeom>
              <a:avLst/>
              <a:gdLst/>
              <a:ahLst/>
              <a:cxnLst/>
              <a:rect l="l" t="t" r="r" b="b"/>
              <a:pathLst>
                <a:path w="398705" h="313009" extrusionOk="0">
                  <a:moveTo>
                    <a:pt x="398705" y="229720"/>
                  </a:moveTo>
                  <a:lnTo>
                    <a:pt x="0" y="0"/>
                  </a:lnTo>
                  <a:lnTo>
                    <a:pt x="0" y="83290"/>
                  </a:lnTo>
                  <a:lnTo>
                    <a:pt x="398705" y="313010"/>
                  </a:lnTo>
                  <a:lnTo>
                    <a:pt x="398705" y="22972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002;p46">
              <a:extLst>
                <a:ext uri="{FF2B5EF4-FFF2-40B4-BE49-F238E27FC236}">
                  <a16:creationId xmlns:a16="http://schemas.microsoft.com/office/drawing/2014/main" id="{664843D9-A4A4-504D-BBAE-936E306AC765}"/>
                </a:ext>
              </a:extLst>
            </p:cNvPr>
            <p:cNvSpPr/>
            <p:nvPr/>
          </p:nvSpPr>
          <p:spPr>
            <a:xfrm>
              <a:off x="2599619" y="2434862"/>
              <a:ext cx="76850" cy="52661"/>
            </a:xfrm>
            <a:custGeom>
              <a:avLst/>
              <a:gdLst/>
              <a:ahLst/>
              <a:cxnLst/>
              <a:rect l="l" t="t" r="r" b="b"/>
              <a:pathLst>
                <a:path w="768499" h="526608" extrusionOk="0">
                  <a:moveTo>
                    <a:pt x="768499" y="443318"/>
                  </a:moveTo>
                  <a:lnTo>
                    <a:pt x="0" y="0"/>
                  </a:lnTo>
                  <a:lnTo>
                    <a:pt x="0" y="83290"/>
                  </a:lnTo>
                  <a:lnTo>
                    <a:pt x="768499" y="526608"/>
                  </a:lnTo>
                  <a:lnTo>
                    <a:pt x="768499" y="443318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003;p46">
              <a:extLst>
                <a:ext uri="{FF2B5EF4-FFF2-40B4-BE49-F238E27FC236}">
                  <a16:creationId xmlns:a16="http://schemas.microsoft.com/office/drawing/2014/main" id="{FD50584E-D246-EA41-995A-FF2EA9D2CC5A}"/>
                </a:ext>
              </a:extLst>
            </p:cNvPr>
            <p:cNvSpPr/>
            <p:nvPr/>
          </p:nvSpPr>
          <p:spPr>
            <a:xfrm>
              <a:off x="2583396" y="2442096"/>
              <a:ext cx="93121" cy="62065"/>
            </a:xfrm>
            <a:custGeom>
              <a:avLst/>
              <a:gdLst/>
              <a:ahLst/>
              <a:cxnLst/>
              <a:rect l="l" t="t" r="r" b="b"/>
              <a:pathLst>
                <a:path w="931208" h="620645" extrusionOk="0">
                  <a:moveTo>
                    <a:pt x="931209" y="537356"/>
                  </a:moveTo>
                  <a:lnTo>
                    <a:pt x="0" y="0"/>
                  </a:lnTo>
                  <a:lnTo>
                    <a:pt x="0" y="83290"/>
                  </a:lnTo>
                  <a:lnTo>
                    <a:pt x="931209" y="620646"/>
                  </a:lnTo>
                  <a:lnTo>
                    <a:pt x="931209" y="537356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004;p46">
              <a:extLst>
                <a:ext uri="{FF2B5EF4-FFF2-40B4-BE49-F238E27FC236}">
                  <a16:creationId xmlns:a16="http://schemas.microsoft.com/office/drawing/2014/main" id="{9D2202EE-FD5B-D745-A14E-B4F3409848D5}"/>
                </a:ext>
              </a:extLst>
            </p:cNvPr>
            <p:cNvSpPr/>
            <p:nvPr/>
          </p:nvSpPr>
          <p:spPr>
            <a:xfrm>
              <a:off x="2686030" y="2467381"/>
              <a:ext cx="20708" cy="30658"/>
            </a:xfrm>
            <a:custGeom>
              <a:avLst/>
              <a:gdLst/>
              <a:ahLst/>
              <a:cxnLst/>
              <a:rect l="l" t="t" r="r" b="b"/>
              <a:pathLst>
                <a:path w="207084" h="306577" extrusionOk="0">
                  <a:moveTo>
                    <a:pt x="0" y="93703"/>
                  </a:moveTo>
                  <a:cubicBezTo>
                    <a:pt x="0" y="171619"/>
                    <a:pt x="46392" y="261626"/>
                    <a:pt x="103542" y="294539"/>
                  </a:cubicBezTo>
                  <a:cubicBezTo>
                    <a:pt x="160692" y="327452"/>
                    <a:pt x="207085" y="290509"/>
                    <a:pt x="207085" y="212593"/>
                  </a:cubicBezTo>
                  <a:cubicBezTo>
                    <a:pt x="207085" y="134676"/>
                    <a:pt x="160692" y="44669"/>
                    <a:pt x="103542" y="11756"/>
                  </a:cubicBezTo>
                  <a:cubicBezTo>
                    <a:pt x="46392" y="-20485"/>
                    <a:pt x="0" y="15786"/>
                    <a:pt x="0" y="937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005;p46">
              <a:extLst>
                <a:ext uri="{FF2B5EF4-FFF2-40B4-BE49-F238E27FC236}">
                  <a16:creationId xmlns:a16="http://schemas.microsoft.com/office/drawing/2014/main" id="{0C1B6230-0E65-F748-9D82-DDF3D443989E}"/>
                </a:ext>
              </a:extLst>
            </p:cNvPr>
            <p:cNvSpPr/>
            <p:nvPr/>
          </p:nvSpPr>
          <p:spPr>
            <a:xfrm>
              <a:off x="2590368" y="2504724"/>
              <a:ext cx="108719" cy="119226"/>
            </a:xfrm>
            <a:custGeom>
              <a:avLst/>
              <a:gdLst/>
              <a:ahLst/>
              <a:cxnLst/>
              <a:rect l="l" t="t" r="r" b="b"/>
              <a:pathLst>
                <a:path w="1087194" h="1192257" extrusionOk="0">
                  <a:moveTo>
                    <a:pt x="1087195" y="626691"/>
                  </a:moveTo>
                  <a:lnTo>
                    <a:pt x="0" y="0"/>
                  </a:lnTo>
                  <a:lnTo>
                    <a:pt x="0" y="565567"/>
                  </a:lnTo>
                  <a:lnTo>
                    <a:pt x="1087195" y="1192258"/>
                  </a:lnTo>
                  <a:lnTo>
                    <a:pt x="1087195" y="62669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006;p46">
              <a:extLst>
                <a:ext uri="{FF2B5EF4-FFF2-40B4-BE49-F238E27FC236}">
                  <a16:creationId xmlns:a16="http://schemas.microsoft.com/office/drawing/2014/main" id="{DD7EDD00-BF19-E640-A2F7-A39BE4210FFD}"/>
                </a:ext>
              </a:extLst>
            </p:cNvPr>
            <p:cNvSpPr/>
            <p:nvPr/>
          </p:nvSpPr>
          <p:spPr>
            <a:xfrm>
              <a:off x="2618121" y="2534263"/>
              <a:ext cx="37248" cy="28278"/>
            </a:xfrm>
            <a:custGeom>
              <a:avLst/>
              <a:gdLst/>
              <a:ahLst/>
              <a:cxnLst/>
              <a:rect l="l" t="t" r="r" b="b"/>
              <a:pathLst>
                <a:path w="372483" h="282783" extrusionOk="0">
                  <a:moveTo>
                    <a:pt x="0" y="0"/>
                  </a:moveTo>
                  <a:lnTo>
                    <a:pt x="372483" y="214942"/>
                  </a:lnTo>
                  <a:lnTo>
                    <a:pt x="372483" y="282783"/>
                  </a:lnTo>
                  <a:lnTo>
                    <a:pt x="0" y="67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007;p46">
              <a:extLst>
                <a:ext uri="{FF2B5EF4-FFF2-40B4-BE49-F238E27FC236}">
                  <a16:creationId xmlns:a16="http://schemas.microsoft.com/office/drawing/2014/main" id="{C2F1EF6F-C088-5548-81C2-9380E4E1725F}"/>
                </a:ext>
              </a:extLst>
            </p:cNvPr>
            <p:cNvSpPr/>
            <p:nvPr/>
          </p:nvSpPr>
          <p:spPr>
            <a:xfrm>
              <a:off x="2618121" y="2547861"/>
              <a:ext cx="69656" cy="47019"/>
            </a:xfrm>
            <a:custGeom>
              <a:avLst/>
              <a:gdLst/>
              <a:ahLst/>
              <a:cxnLst/>
              <a:rect l="l" t="t" r="r" b="b"/>
              <a:pathLst>
                <a:path w="696557" h="470186" extrusionOk="0">
                  <a:moveTo>
                    <a:pt x="0" y="0"/>
                  </a:moveTo>
                  <a:lnTo>
                    <a:pt x="696558" y="401673"/>
                  </a:lnTo>
                  <a:lnTo>
                    <a:pt x="696558" y="470186"/>
                  </a:lnTo>
                  <a:lnTo>
                    <a:pt x="0" y="68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008;p46">
              <a:extLst>
                <a:ext uri="{FF2B5EF4-FFF2-40B4-BE49-F238E27FC236}">
                  <a16:creationId xmlns:a16="http://schemas.microsoft.com/office/drawing/2014/main" id="{0443B6D5-F914-7A43-98DB-C95310FEFD85}"/>
                </a:ext>
              </a:extLst>
            </p:cNvPr>
            <p:cNvSpPr/>
            <p:nvPr/>
          </p:nvSpPr>
          <p:spPr>
            <a:xfrm>
              <a:off x="2600088" y="2523577"/>
              <a:ext cx="12371" cy="18342"/>
            </a:xfrm>
            <a:custGeom>
              <a:avLst/>
              <a:gdLst/>
              <a:ahLst/>
              <a:cxnLst/>
              <a:rect l="l" t="t" r="r" b="b"/>
              <a:pathLst>
                <a:path w="123712" h="183417" extrusionOk="0">
                  <a:moveTo>
                    <a:pt x="123713" y="127308"/>
                  </a:moveTo>
                  <a:cubicBezTo>
                    <a:pt x="123713" y="173655"/>
                    <a:pt x="96146" y="195821"/>
                    <a:pt x="61856" y="176342"/>
                  </a:cubicBezTo>
                  <a:cubicBezTo>
                    <a:pt x="27566" y="156863"/>
                    <a:pt x="0" y="103127"/>
                    <a:pt x="0" y="56109"/>
                  </a:cubicBezTo>
                  <a:cubicBezTo>
                    <a:pt x="0" y="9762"/>
                    <a:pt x="27566" y="-12404"/>
                    <a:pt x="61856" y="7075"/>
                  </a:cubicBezTo>
                  <a:cubicBezTo>
                    <a:pt x="95474" y="27226"/>
                    <a:pt x="123713" y="80961"/>
                    <a:pt x="123713" y="1273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009;p46">
              <a:extLst>
                <a:ext uri="{FF2B5EF4-FFF2-40B4-BE49-F238E27FC236}">
                  <a16:creationId xmlns:a16="http://schemas.microsoft.com/office/drawing/2014/main" id="{47405FF1-5A04-3E4E-B39F-0C61B4B8F8AD}"/>
                </a:ext>
              </a:extLst>
            </p:cNvPr>
            <p:cNvSpPr/>
            <p:nvPr/>
          </p:nvSpPr>
          <p:spPr>
            <a:xfrm>
              <a:off x="2912281" y="2547325"/>
              <a:ext cx="108719" cy="119293"/>
            </a:xfrm>
            <a:custGeom>
              <a:avLst/>
              <a:gdLst/>
              <a:ahLst/>
              <a:cxnLst/>
              <a:rect l="l" t="t" r="r" b="b"/>
              <a:pathLst>
                <a:path w="1087194" h="1192929" extrusionOk="0">
                  <a:moveTo>
                    <a:pt x="1087195" y="626691"/>
                  </a:moveTo>
                  <a:lnTo>
                    <a:pt x="0" y="0"/>
                  </a:lnTo>
                  <a:lnTo>
                    <a:pt x="0" y="565567"/>
                  </a:lnTo>
                  <a:lnTo>
                    <a:pt x="1087195" y="1192929"/>
                  </a:lnTo>
                  <a:lnTo>
                    <a:pt x="1087195" y="62669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010;p46">
              <a:extLst>
                <a:ext uri="{FF2B5EF4-FFF2-40B4-BE49-F238E27FC236}">
                  <a16:creationId xmlns:a16="http://schemas.microsoft.com/office/drawing/2014/main" id="{DE873AB4-5DB3-3845-BF4F-9DDF7AF18F65}"/>
                </a:ext>
              </a:extLst>
            </p:cNvPr>
            <p:cNvSpPr/>
            <p:nvPr/>
          </p:nvSpPr>
          <p:spPr>
            <a:xfrm>
              <a:off x="2940034" y="2576931"/>
              <a:ext cx="37248" cy="28278"/>
            </a:xfrm>
            <a:custGeom>
              <a:avLst/>
              <a:gdLst/>
              <a:ahLst/>
              <a:cxnLst/>
              <a:rect l="l" t="t" r="r" b="b"/>
              <a:pathLst>
                <a:path w="372483" h="282783" extrusionOk="0">
                  <a:moveTo>
                    <a:pt x="0" y="0"/>
                  </a:moveTo>
                  <a:lnTo>
                    <a:pt x="372483" y="214942"/>
                  </a:lnTo>
                  <a:lnTo>
                    <a:pt x="372483" y="282783"/>
                  </a:lnTo>
                  <a:lnTo>
                    <a:pt x="0" y="67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011;p46">
              <a:extLst>
                <a:ext uri="{FF2B5EF4-FFF2-40B4-BE49-F238E27FC236}">
                  <a16:creationId xmlns:a16="http://schemas.microsoft.com/office/drawing/2014/main" id="{719AFAA1-AB7E-D949-B45A-8AFBE5D9290F}"/>
                </a:ext>
              </a:extLst>
            </p:cNvPr>
            <p:cNvSpPr/>
            <p:nvPr/>
          </p:nvSpPr>
          <p:spPr>
            <a:xfrm>
              <a:off x="2940101" y="2590528"/>
              <a:ext cx="69656" cy="47019"/>
            </a:xfrm>
            <a:custGeom>
              <a:avLst/>
              <a:gdLst/>
              <a:ahLst/>
              <a:cxnLst/>
              <a:rect l="l" t="t" r="r" b="b"/>
              <a:pathLst>
                <a:path w="696557" h="470186" extrusionOk="0">
                  <a:moveTo>
                    <a:pt x="0" y="0"/>
                  </a:moveTo>
                  <a:lnTo>
                    <a:pt x="696558" y="401673"/>
                  </a:lnTo>
                  <a:lnTo>
                    <a:pt x="696558" y="470186"/>
                  </a:lnTo>
                  <a:lnTo>
                    <a:pt x="0" y="68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012;p46">
              <a:extLst>
                <a:ext uri="{FF2B5EF4-FFF2-40B4-BE49-F238E27FC236}">
                  <a16:creationId xmlns:a16="http://schemas.microsoft.com/office/drawing/2014/main" id="{1FB6445E-D3F7-114C-9A6F-6484D0DB1131}"/>
                </a:ext>
              </a:extLst>
            </p:cNvPr>
            <p:cNvSpPr/>
            <p:nvPr/>
          </p:nvSpPr>
          <p:spPr>
            <a:xfrm>
              <a:off x="2922001" y="2566245"/>
              <a:ext cx="12371" cy="18342"/>
            </a:xfrm>
            <a:custGeom>
              <a:avLst/>
              <a:gdLst/>
              <a:ahLst/>
              <a:cxnLst/>
              <a:rect l="l" t="t" r="r" b="b"/>
              <a:pathLst>
                <a:path w="123713" h="183417" extrusionOk="0">
                  <a:moveTo>
                    <a:pt x="123713" y="127308"/>
                  </a:moveTo>
                  <a:cubicBezTo>
                    <a:pt x="123713" y="173655"/>
                    <a:pt x="96146" y="195821"/>
                    <a:pt x="61857" y="176342"/>
                  </a:cubicBezTo>
                  <a:cubicBezTo>
                    <a:pt x="27567" y="156863"/>
                    <a:pt x="0" y="103127"/>
                    <a:pt x="0" y="56109"/>
                  </a:cubicBezTo>
                  <a:cubicBezTo>
                    <a:pt x="0" y="9762"/>
                    <a:pt x="27567" y="-12404"/>
                    <a:pt x="61857" y="7075"/>
                  </a:cubicBezTo>
                  <a:cubicBezTo>
                    <a:pt x="96146" y="27226"/>
                    <a:pt x="123713" y="80961"/>
                    <a:pt x="123713" y="127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195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224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225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>
            <a:spLocks noGrp="1"/>
          </p:cNvSpPr>
          <p:nvPr>
            <p:ph type="body" idx="1"/>
          </p:nvPr>
        </p:nvSpPr>
        <p:spPr>
          <a:xfrm>
            <a:off x="855275" y="1353950"/>
            <a:ext cx="24795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Security Operations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IDS/IPS, Firewall Admin, Endpoint/EDR, MDM, Incident Response, and org-wide KnowBe4 security awareness training.</a:t>
            </a:r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&amp; CLOUD</a:t>
            </a:r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body" idx="2"/>
          </p:nvPr>
        </p:nvSpPr>
        <p:spPr>
          <a:xfrm>
            <a:off x="3682698" y="1353950"/>
            <a:ext cx="24795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Cloud &amp; Infrastructure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AWS, Azure, GCP administration. IAM/RBAC/Azure AD, VMware, Hyper-V, Docker, M365 &amp; SaaS management.</a:t>
            </a:r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27D7F53F-206B-D74E-A127-965CDA9C634C}"/>
              </a:ext>
            </a:extLst>
          </p:cNvPr>
          <p:cNvGrpSpPr/>
          <p:nvPr/>
        </p:nvGrpSpPr>
        <p:grpSpPr>
          <a:xfrm>
            <a:off x="6114994" y="720387"/>
            <a:ext cx="2731502" cy="3852570"/>
            <a:chOff x="996049" y="1552369"/>
            <a:chExt cx="485510" cy="684774"/>
          </a:xfrm>
        </p:grpSpPr>
        <p:sp>
          <p:nvSpPr>
            <p:cNvPr id="33" name="Google Shape;902;p46">
              <a:extLst>
                <a:ext uri="{FF2B5EF4-FFF2-40B4-BE49-F238E27FC236}">
                  <a16:creationId xmlns:a16="http://schemas.microsoft.com/office/drawing/2014/main" id="{ADE9C839-9010-8F44-8D5C-E3A472A8B99B}"/>
                </a:ext>
              </a:extLst>
            </p:cNvPr>
            <p:cNvSpPr/>
            <p:nvPr/>
          </p:nvSpPr>
          <p:spPr>
            <a:xfrm>
              <a:off x="1264384" y="1758365"/>
              <a:ext cx="217175" cy="221539"/>
            </a:xfrm>
            <a:custGeom>
              <a:avLst/>
              <a:gdLst/>
              <a:ahLst/>
              <a:cxnLst/>
              <a:rect l="l" t="t" r="r" b="b"/>
              <a:pathLst>
                <a:path w="2171751" h="2215389" extrusionOk="0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903;p46">
              <a:extLst>
                <a:ext uri="{FF2B5EF4-FFF2-40B4-BE49-F238E27FC236}">
                  <a16:creationId xmlns:a16="http://schemas.microsoft.com/office/drawing/2014/main" id="{335A1274-4121-F84D-A635-1EB9A4CCFE56}"/>
                </a:ext>
              </a:extLst>
            </p:cNvPr>
            <p:cNvSpPr/>
            <p:nvPr/>
          </p:nvSpPr>
          <p:spPr>
            <a:xfrm>
              <a:off x="1310707" y="1552369"/>
              <a:ext cx="123404" cy="187230"/>
            </a:xfrm>
            <a:custGeom>
              <a:avLst/>
              <a:gdLst/>
              <a:ahLst/>
              <a:cxnLst/>
              <a:rect l="l" t="t" r="r" b="b"/>
              <a:pathLst>
                <a:path w="1234041" h="1872301" extrusionOk="0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6" y="1601370"/>
                    <a:pt x="0" y="1053660"/>
                    <a:pt x="0" y="576322"/>
                  </a:cubicBezTo>
                  <a:cubicBezTo>
                    <a:pt x="0" y="98983"/>
                    <a:pt x="276446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904;p46">
              <a:extLst>
                <a:ext uri="{FF2B5EF4-FFF2-40B4-BE49-F238E27FC236}">
                  <a16:creationId xmlns:a16="http://schemas.microsoft.com/office/drawing/2014/main" id="{D4D1A8AE-09CD-CC43-8DB0-6EC46D024BAC}"/>
                </a:ext>
              </a:extLst>
            </p:cNvPr>
            <p:cNvSpPr/>
            <p:nvPr/>
          </p:nvSpPr>
          <p:spPr>
            <a:xfrm>
              <a:off x="1237881" y="1778226"/>
              <a:ext cx="217175" cy="221539"/>
            </a:xfrm>
            <a:custGeom>
              <a:avLst/>
              <a:gdLst/>
              <a:ahLst/>
              <a:cxnLst/>
              <a:rect l="l" t="t" r="r" b="b"/>
              <a:pathLst>
                <a:path w="2171751" h="2215389" extrusionOk="0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905;p46">
              <a:extLst>
                <a:ext uri="{FF2B5EF4-FFF2-40B4-BE49-F238E27FC236}">
                  <a16:creationId xmlns:a16="http://schemas.microsoft.com/office/drawing/2014/main" id="{E32FACC0-89B5-8948-A06C-5E60902068C6}"/>
                </a:ext>
              </a:extLst>
            </p:cNvPr>
            <p:cNvSpPr/>
            <p:nvPr/>
          </p:nvSpPr>
          <p:spPr>
            <a:xfrm>
              <a:off x="1284204" y="1572230"/>
              <a:ext cx="123404" cy="187230"/>
            </a:xfrm>
            <a:custGeom>
              <a:avLst/>
              <a:gdLst/>
              <a:ahLst/>
              <a:cxnLst/>
              <a:rect l="l" t="t" r="r" b="b"/>
              <a:pathLst>
                <a:path w="1234041" h="1872301" extrusionOk="0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7" y="1601370"/>
                    <a:pt x="0" y="1053660"/>
                    <a:pt x="0" y="576322"/>
                  </a:cubicBezTo>
                  <a:cubicBezTo>
                    <a:pt x="0" y="98983"/>
                    <a:pt x="276447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906;p46">
              <a:extLst>
                <a:ext uri="{FF2B5EF4-FFF2-40B4-BE49-F238E27FC236}">
                  <a16:creationId xmlns:a16="http://schemas.microsoft.com/office/drawing/2014/main" id="{4A6F7ADA-2221-104F-873B-9FA176D3B94A}"/>
                </a:ext>
              </a:extLst>
            </p:cNvPr>
            <p:cNvSpPr/>
            <p:nvPr/>
          </p:nvSpPr>
          <p:spPr>
            <a:xfrm>
              <a:off x="996049" y="1744169"/>
              <a:ext cx="123803" cy="135766"/>
            </a:xfrm>
            <a:custGeom>
              <a:avLst/>
              <a:gdLst/>
              <a:ahLst/>
              <a:cxnLst/>
              <a:rect l="l" t="t" r="r" b="b"/>
              <a:pathLst>
                <a:path w="1238028" h="1357658" extrusionOk="0">
                  <a:moveTo>
                    <a:pt x="1237364" y="713683"/>
                  </a:moveTo>
                  <a:lnTo>
                    <a:pt x="0" y="0"/>
                  </a:lnTo>
                  <a:lnTo>
                    <a:pt x="0" y="643975"/>
                  </a:lnTo>
                  <a:lnTo>
                    <a:pt x="1238028" y="1357658"/>
                  </a:lnTo>
                  <a:lnTo>
                    <a:pt x="1237364" y="71368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907;p46">
              <a:extLst>
                <a:ext uri="{FF2B5EF4-FFF2-40B4-BE49-F238E27FC236}">
                  <a16:creationId xmlns:a16="http://schemas.microsoft.com/office/drawing/2014/main" id="{6FA45E0E-0571-5847-9CB1-9A8F67DD1FB2}"/>
                </a:ext>
              </a:extLst>
            </p:cNvPr>
            <p:cNvSpPr/>
            <p:nvPr/>
          </p:nvSpPr>
          <p:spPr>
            <a:xfrm>
              <a:off x="1007048" y="1765748"/>
              <a:ext cx="14088" cy="20853"/>
            </a:xfrm>
            <a:custGeom>
              <a:avLst/>
              <a:gdLst/>
              <a:ahLst/>
              <a:cxnLst/>
              <a:rect l="l" t="t" r="r" b="b"/>
              <a:pathLst>
                <a:path w="140881" h="208525" extrusionOk="0">
                  <a:moveTo>
                    <a:pt x="140881" y="144760"/>
                  </a:moveTo>
                  <a:cubicBezTo>
                    <a:pt x="140881" y="197872"/>
                    <a:pt x="109648" y="222435"/>
                    <a:pt x="70441" y="200527"/>
                  </a:cubicBezTo>
                  <a:cubicBezTo>
                    <a:pt x="31898" y="177955"/>
                    <a:pt x="0" y="116877"/>
                    <a:pt x="0" y="63765"/>
                  </a:cubicBezTo>
                  <a:cubicBezTo>
                    <a:pt x="0" y="10654"/>
                    <a:pt x="31233" y="-13910"/>
                    <a:pt x="70441" y="7999"/>
                  </a:cubicBezTo>
                  <a:cubicBezTo>
                    <a:pt x="109648" y="30571"/>
                    <a:pt x="140881" y="91649"/>
                    <a:pt x="140881" y="144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908;p46">
              <a:extLst>
                <a:ext uri="{FF2B5EF4-FFF2-40B4-BE49-F238E27FC236}">
                  <a16:creationId xmlns:a16="http://schemas.microsoft.com/office/drawing/2014/main" id="{FDC65089-E99B-9F4F-B5BA-243D808FEF48}"/>
                </a:ext>
              </a:extLst>
            </p:cNvPr>
            <p:cNvSpPr/>
            <p:nvPr/>
          </p:nvSpPr>
          <p:spPr>
            <a:xfrm>
              <a:off x="1027455" y="1778198"/>
              <a:ext cx="40470" cy="32331"/>
            </a:xfrm>
            <a:custGeom>
              <a:avLst/>
              <a:gdLst/>
              <a:ahLst/>
              <a:cxnLst/>
              <a:rect l="l" t="t" r="r" b="b"/>
              <a:pathLst>
                <a:path w="404701" h="323315" extrusionOk="0">
                  <a:moveTo>
                    <a:pt x="0" y="0"/>
                  </a:moveTo>
                  <a:lnTo>
                    <a:pt x="404702" y="233026"/>
                  </a:lnTo>
                  <a:lnTo>
                    <a:pt x="404702" y="323315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909;p46">
              <a:extLst>
                <a:ext uri="{FF2B5EF4-FFF2-40B4-BE49-F238E27FC236}">
                  <a16:creationId xmlns:a16="http://schemas.microsoft.com/office/drawing/2014/main" id="{48445B42-FE69-8D4D-9417-D33EFDCF2293}"/>
                </a:ext>
              </a:extLst>
            </p:cNvPr>
            <p:cNvSpPr/>
            <p:nvPr/>
          </p:nvSpPr>
          <p:spPr>
            <a:xfrm>
              <a:off x="1027654" y="1796338"/>
              <a:ext cx="79279" cy="54771"/>
            </a:xfrm>
            <a:custGeom>
              <a:avLst/>
              <a:gdLst/>
              <a:ahLst/>
              <a:cxnLst/>
              <a:rect l="l" t="t" r="r" b="b"/>
              <a:pathLst>
                <a:path w="792790" h="547710" extrusionOk="0">
                  <a:moveTo>
                    <a:pt x="0" y="0"/>
                  </a:moveTo>
                  <a:lnTo>
                    <a:pt x="792790" y="457421"/>
                  </a:lnTo>
                  <a:lnTo>
                    <a:pt x="792790" y="547711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910;p46">
              <a:extLst>
                <a:ext uri="{FF2B5EF4-FFF2-40B4-BE49-F238E27FC236}">
                  <a16:creationId xmlns:a16="http://schemas.microsoft.com/office/drawing/2014/main" id="{88ADB674-7131-1D4A-BBE7-E13B89F2D9DA}"/>
                </a:ext>
              </a:extLst>
            </p:cNvPr>
            <p:cNvSpPr/>
            <p:nvPr/>
          </p:nvSpPr>
          <p:spPr>
            <a:xfrm>
              <a:off x="1314218" y="1880086"/>
              <a:ext cx="124334" cy="339182"/>
            </a:xfrm>
            <a:custGeom>
              <a:avLst/>
              <a:gdLst/>
              <a:ahLst/>
              <a:cxnLst/>
              <a:rect l="l" t="t" r="r" b="b"/>
              <a:pathLst>
                <a:path w="1243344" h="3391822" extrusionOk="0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5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911;p46">
              <a:extLst>
                <a:ext uri="{FF2B5EF4-FFF2-40B4-BE49-F238E27FC236}">
                  <a16:creationId xmlns:a16="http://schemas.microsoft.com/office/drawing/2014/main" id="{D1BACE58-8B51-9149-8067-B322DC9159AA}"/>
                </a:ext>
              </a:extLst>
            </p:cNvPr>
            <p:cNvSpPr/>
            <p:nvPr/>
          </p:nvSpPr>
          <p:spPr>
            <a:xfrm>
              <a:off x="1293480" y="1897961"/>
              <a:ext cx="124401" cy="339182"/>
            </a:xfrm>
            <a:custGeom>
              <a:avLst/>
              <a:gdLst/>
              <a:ahLst/>
              <a:cxnLst/>
              <a:rect l="l" t="t" r="r" b="b"/>
              <a:pathLst>
                <a:path w="1244009" h="3391822" extrusionOk="0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912;p46">
              <a:extLst>
                <a:ext uri="{FF2B5EF4-FFF2-40B4-BE49-F238E27FC236}">
                  <a16:creationId xmlns:a16="http://schemas.microsoft.com/office/drawing/2014/main" id="{F8D6A5C9-4FFB-A248-BDA4-38A8096B9E73}"/>
                </a:ext>
              </a:extLst>
            </p:cNvPr>
            <p:cNvSpPr/>
            <p:nvPr/>
          </p:nvSpPr>
          <p:spPr>
            <a:xfrm>
              <a:off x="1305472" y="2066980"/>
              <a:ext cx="99880" cy="66588"/>
            </a:xfrm>
            <a:custGeom>
              <a:avLst/>
              <a:gdLst/>
              <a:ahLst/>
              <a:cxnLst/>
              <a:rect l="l" t="t" r="r" b="b"/>
              <a:pathLst>
                <a:path w="998795" h="665883" extrusionOk="0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913;p46">
              <a:extLst>
                <a:ext uri="{FF2B5EF4-FFF2-40B4-BE49-F238E27FC236}">
                  <a16:creationId xmlns:a16="http://schemas.microsoft.com/office/drawing/2014/main" id="{FE86E837-BB1E-B74A-B389-AEC13F0C61F2}"/>
                </a:ext>
              </a:extLst>
            </p:cNvPr>
            <p:cNvSpPr/>
            <p:nvPr/>
          </p:nvSpPr>
          <p:spPr>
            <a:xfrm>
              <a:off x="1312496" y="2088563"/>
              <a:ext cx="85924" cy="58555"/>
            </a:xfrm>
            <a:custGeom>
              <a:avLst/>
              <a:gdLst/>
              <a:ahLst/>
              <a:cxnLst/>
              <a:rect l="l" t="t" r="r" b="b"/>
              <a:pathLst>
                <a:path w="859243" h="585552" extrusionOk="0">
                  <a:moveTo>
                    <a:pt x="0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914;p46">
              <a:extLst>
                <a:ext uri="{FF2B5EF4-FFF2-40B4-BE49-F238E27FC236}">
                  <a16:creationId xmlns:a16="http://schemas.microsoft.com/office/drawing/2014/main" id="{6A7E626B-EC52-C543-9825-21491672C695}"/>
                </a:ext>
              </a:extLst>
            </p:cNvPr>
            <p:cNvSpPr/>
            <p:nvPr/>
          </p:nvSpPr>
          <p:spPr>
            <a:xfrm>
              <a:off x="1327934" y="1987117"/>
              <a:ext cx="55422" cy="83162"/>
            </a:xfrm>
            <a:custGeom>
              <a:avLst/>
              <a:gdLst/>
              <a:ahLst/>
              <a:cxnLst/>
              <a:rect l="l" t="t" r="r" b="b"/>
              <a:pathLst>
                <a:path w="554222" h="831619" extrusionOk="0">
                  <a:moveTo>
                    <a:pt x="554222" y="575808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915;p46">
              <a:extLst>
                <a:ext uri="{FF2B5EF4-FFF2-40B4-BE49-F238E27FC236}">
                  <a16:creationId xmlns:a16="http://schemas.microsoft.com/office/drawing/2014/main" id="{16031D86-5C06-5541-B19C-2F3BE6E5E671}"/>
                </a:ext>
              </a:extLst>
            </p:cNvPr>
            <p:cNvSpPr/>
            <p:nvPr/>
          </p:nvSpPr>
          <p:spPr>
            <a:xfrm>
              <a:off x="1159838" y="1665386"/>
              <a:ext cx="124334" cy="339182"/>
            </a:xfrm>
            <a:custGeom>
              <a:avLst/>
              <a:gdLst/>
              <a:ahLst/>
              <a:cxnLst/>
              <a:rect l="l" t="t" r="r" b="b"/>
              <a:pathLst>
                <a:path w="1243344" h="3391821" extrusionOk="0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916;p46">
              <a:extLst>
                <a:ext uri="{FF2B5EF4-FFF2-40B4-BE49-F238E27FC236}">
                  <a16:creationId xmlns:a16="http://schemas.microsoft.com/office/drawing/2014/main" id="{D02F4EFF-AE49-6145-B72E-D27550E83D74}"/>
                </a:ext>
              </a:extLst>
            </p:cNvPr>
            <p:cNvSpPr/>
            <p:nvPr/>
          </p:nvSpPr>
          <p:spPr>
            <a:xfrm>
              <a:off x="1139099" y="1683460"/>
              <a:ext cx="124401" cy="339182"/>
            </a:xfrm>
            <a:custGeom>
              <a:avLst/>
              <a:gdLst/>
              <a:ahLst/>
              <a:cxnLst/>
              <a:rect l="l" t="t" r="r" b="b"/>
              <a:pathLst>
                <a:path w="1244009" h="3391822" extrusionOk="0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917;p46">
              <a:extLst>
                <a:ext uri="{FF2B5EF4-FFF2-40B4-BE49-F238E27FC236}">
                  <a16:creationId xmlns:a16="http://schemas.microsoft.com/office/drawing/2014/main" id="{FC115EF8-11A8-2548-AFA3-23752B46CF20}"/>
                </a:ext>
              </a:extLst>
            </p:cNvPr>
            <p:cNvSpPr/>
            <p:nvPr/>
          </p:nvSpPr>
          <p:spPr>
            <a:xfrm>
              <a:off x="1151092" y="1852214"/>
              <a:ext cx="99880" cy="66588"/>
            </a:xfrm>
            <a:custGeom>
              <a:avLst/>
              <a:gdLst/>
              <a:ahLst/>
              <a:cxnLst/>
              <a:rect l="l" t="t" r="r" b="b"/>
              <a:pathLst>
                <a:path w="998795" h="665883" extrusionOk="0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918;p46">
              <a:extLst>
                <a:ext uri="{FF2B5EF4-FFF2-40B4-BE49-F238E27FC236}">
                  <a16:creationId xmlns:a16="http://schemas.microsoft.com/office/drawing/2014/main" id="{E54C2B83-DC51-444F-A417-DFC3D42DBE81}"/>
                </a:ext>
              </a:extLst>
            </p:cNvPr>
            <p:cNvSpPr/>
            <p:nvPr/>
          </p:nvSpPr>
          <p:spPr>
            <a:xfrm>
              <a:off x="1157983" y="1873863"/>
              <a:ext cx="85924" cy="58555"/>
            </a:xfrm>
            <a:custGeom>
              <a:avLst/>
              <a:gdLst/>
              <a:ahLst/>
              <a:cxnLst/>
              <a:rect l="l" t="t" r="r" b="b"/>
              <a:pathLst>
                <a:path w="859243" h="585552" extrusionOk="0">
                  <a:moveTo>
                    <a:pt x="665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919;p46">
              <a:extLst>
                <a:ext uri="{FF2B5EF4-FFF2-40B4-BE49-F238E27FC236}">
                  <a16:creationId xmlns:a16="http://schemas.microsoft.com/office/drawing/2014/main" id="{3C5A5D38-ECBB-CA4B-AC3D-53B44E8CED8C}"/>
                </a:ext>
              </a:extLst>
            </p:cNvPr>
            <p:cNvSpPr/>
            <p:nvPr/>
          </p:nvSpPr>
          <p:spPr>
            <a:xfrm>
              <a:off x="1173553" y="1772417"/>
              <a:ext cx="55422" cy="83162"/>
            </a:xfrm>
            <a:custGeom>
              <a:avLst/>
              <a:gdLst/>
              <a:ahLst/>
              <a:cxnLst/>
              <a:rect l="l" t="t" r="r" b="b"/>
              <a:pathLst>
                <a:path w="554222" h="831619" extrusionOk="0">
                  <a:moveTo>
                    <a:pt x="554222" y="575807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920;p46">
              <a:extLst>
                <a:ext uri="{FF2B5EF4-FFF2-40B4-BE49-F238E27FC236}">
                  <a16:creationId xmlns:a16="http://schemas.microsoft.com/office/drawing/2014/main" id="{92428EE1-2A41-C04D-AFDA-1E0CDC80C136}"/>
                </a:ext>
              </a:extLst>
            </p:cNvPr>
            <p:cNvSpPr/>
            <p:nvPr/>
          </p:nvSpPr>
          <p:spPr>
            <a:xfrm>
              <a:off x="1031629" y="1864859"/>
              <a:ext cx="197832" cy="232760"/>
            </a:xfrm>
            <a:custGeom>
              <a:avLst/>
              <a:gdLst/>
              <a:ahLst/>
              <a:cxnLst/>
              <a:rect l="l" t="t" r="r" b="b"/>
              <a:pathLst>
                <a:path w="1978320" h="2327603" extrusionOk="0">
                  <a:moveTo>
                    <a:pt x="1977656" y="1140566"/>
                  </a:moveTo>
                  <a:lnTo>
                    <a:pt x="0" y="0"/>
                  </a:lnTo>
                  <a:lnTo>
                    <a:pt x="665" y="1029696"/>
                  </a:lnTo>
                  <a:lnTo>
                    <a:pt x="1803548" y="2069350"/>
                  </a:lnTo>
                  <a:lnTo>
                    <a:pt x="1978320" y="2327604"/>
                  </a:lnTo>
                  <a:lnTo>
                    <a:pt x="1977656" y="114056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921;p46">
              <a:extLst>
                <a:ext uri="{FF2B5EF4-FFF2-40B4-BE49-F238E27FC236}">
                  <a16:creationId xmlns:a16="http://schemas.microsoft.com/office/drawing/2014/main" id="{6F68255C-138C-7747-B125-83E496D55536}"/>
                </a:ext>
              </a:extLst>
            </p:cNvPr>
            <p:cNvSpPr/>
            <p:nvPr/>
          </p:nvSpPr>
          <p:spPr>
            <a:xfrm>
              <a:off x="1010626" y="1877041"/>
              <a:ext cx="74627" cy="70970"/>
            </a:xfrm>
            <a:custGeom>
              <a:avLst/>
              <a:gdLst/>
              <a:ahLst/>
              <a:cxnLst/>
              <a:rect l="l" t="t" r="r" b="b"/>
              <a:pathLst>
                <a:path w="746272" h="709700" extrusionOk="0">
                  <a:moveTo>
                    <a:pt x="0" y="279498"/>
                  </a:moveTo>
                  <a:lnTo>
                    <a:pt x="0" y="0"/>
                  </a:lnTo>
                  <a:lnTo>
                    <a:pt x="746273" y="430202"/>
                  </a:lnTo>
                  <a:lnTo>
                    <a:pt x="746273" y="709700"/>
                  </a:lnTo>
                  <a:lnTo>
                    <a:pt x="0" y="27949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922;p46">
              <a:extLst>
                <a:ext uri="{FF2B5EF4-FFF2-40B4-BE49-F238E27FC236}">
                  <a16:creationId xmlns:a16="http://schemas.microsoft.com/office/drawing/2014/main" id="{DB2A7262-131B-3145-82C2-BA186A086260}"/>
                </a:ext>
              </a:extLst>
            </p:cNvPr>
            <p:cNvSpPr/>
            <p:nvPr/>
          </p:nvSpPr>
          <p:spPr>
            <a:xfrm>
              <a:off x="1134925" y="1949468"/>
              <a:ext cx="43328" cy="33991"/>
            </a:xfrm>
            <a:custGeom>
              <a:avLst/>
              <a:gdLst/>
              <a:ahLst/>
              <a:cxnLst/>
              <a:rect l="l" t="t" r="r" b="b"/>
              <a:pathLst>
                <a:path w="433276" h="339912" extrusionOk="0">
                  <a:moveTo>
                    <a:pt x="433277" y="249623"/>
                  </a:moveTo>
                  <a:lnTo>
                    <a:pt x="0" y="0"/>
                  </a:lnTo>
                  <a:lnTo>
                    <a:pt x="0" y="90290"/>
                  </a:lnTo>
                  <a:lnTo>
                    <a:pt x="433277" y="339913"/>
                  </a:lnTo>
                  <a:lnTo>
                    <a:pt x="433277" y="249623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923;p46">
              <a:extLst>
                <a:ext uri="{FF2B5EF4-FFF2-40B4-BE49-F238E27FC236}">
                  <a16:creationId xmlns:a16="http://schemas.microsoft.com/office/drawing/2014/main" id="{555CBBFA-96D6-8B44-975E-7FFF594F6517}"/>
                </a:ext>
              </a:extLst>
            </p:cNvPr>
            <p:cNvSpPr/>
            <p:nvPr/>
          </p:nvSpPr>
          <p:spPr>
            <a:xfrm>
              <a:off x="1094839" y="1944436"/>
              <a:ext cx="83532" cy="57161"/>
            </a:xfrm>
            <a:custGeom>
              <a:avLst/>
              <a:gdLst/>
              <a:ahLst/>
              <a:cxnLst/>
              <a:rect l="l" t="t" r="r" b="b"/>
              <a:pathLst>
                <a:path w="835320" h="571610" extrusionOk="0">
                  <a:moveTo>
                    <a:pt x="835320" y="48132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835320" y="571611"/>
                  </a:lnTo>
                  <a:lnTo>
                    <a:pt x="835320" y="48132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924;p46">
              <a:extLst>
                <a:ext uri="{FF2B5EF4-FFF2-40B4-BE49-F238E27FC236}">
                  <a16:creationId xmlns:a16="http://schemas.microsoft.com/office/drawing/2014/main" id="{D916518A-D3DC-E546-87A7-451A44B96F8C}"/>
                </a:ext>
              </a:extLst>
            </p:cNvPr>
            <p:cNvSpPr/>
            <p:nvPr/>
          </p:nvSpPr>
          <p:spPr>
            <a:xfrm>
              <a:off x="1077281" y="1952249"/>
              <a:ext cx="101209" cy="67385"/>
            </a:xfrm>
            <a:custGeom>
              <a:avLst/>
              <a:gdLst/>
              <a:ahLst/>
              <a:cxnLst/>
              <a:rect l="l" t="t" r="r" b="b"/>
              <a:pathLst>
                <a:path w="1012086" h="673849" extrusionOk="0">
                  <a:moveTo>
                    <a:pt x="1011422" y="58356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1012087" y="673850"/>
                  </a:lnTo>
                  <a:lnTo>
                    <a:pt x="1011422" y="58356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925;p46">
              <a:extLst>
                <a:ext uri="{FF2B5EF4-FFF2-40B4-BE49-F238E27FC236}">
                  <a16:creationId xmlns:a16="http://schemas.microsoft.com/office/drawing/2014/main" id="{0E9F9831-8332-784A-88BF-5AE2B538CAA7}"/>
                </a:ext>
              </a:extLst>
            </p:cNvPr>
            <p:cNvSpPr/>
            <p:nvPr/>
          </p:nvSpPr>
          <p:spPr>
            <a:xfrm>
              <a:off x="1188792" y="1979734"/>
              <a:ext cx="22462" cy="33373"/>
            </a:xfrm>
            <a:custGeom>
              <a:avLst/>
              <a:gdLst/>
              <a:ahLst/>
              <a:cxnLst/>
              <a:rect l="l" t="t" r="r" b="b"/>
              <a:pathLst>
                <a:path w="224619" h="333730" extrusionOk="0">
                  <a:moveTo>
                    <a:pt x="6" y="102136"/>
                  </a:moveTo>
                  <a:cubicBezTo>
                    <a:pt x="6" y="187114"/>
                    <a:pt x="50511" y="284706"/>
                    <a:pt x="112313" y="320556"/>
                  </a:cubicBezTo>
                  <a:cubicBezTo>
                    <a:pt x="174115" y="356406"/>
                    <a:pt x="224619" y="316573"/>
                    <a:pt x="224619" y="231595"/>
                  </a:cubicBezTo>
                  <a:cubicBezTo>
                    <a:pt x="224619" y="146616"/>
                    <a:pt x="174115" y="49025"/>
                    <a:pt x="112313" y="13174"/>
                  </a:cubicBezTo>
                  <a:cubicBezTo>
                    <a:pt x="49847" y="-22676"/>
                    <a:pt x="-658" y="17157"/>
                    <a:pt x="6" y="1021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926;p46">
              <a:extLst>
                <a:ext uri="{FF2B5EF4-FFF2-40B4-BE49-F238E27FC236}">
                  <a16:creationId xmlns:a16="http://schemas.microsoft.com/office/drawing/2014/main" id="{20290011-3A1B-2E45-971D-9279BC3E9284}"/>
                </a:ext>
              </a:extLst>
            </p:cNvPr>
            <p:cNvSpPr/>
            <p:nvPr/>
          </p:nvSpPr>
          <p:spPr>
            <a:xfrm>
              <a:off x="1046537" y="1669527"/>
              <a:ext cx="55555" cy="75611"/>
            </a:xfrm>
            <a:custGeom>
              <a:avLst/>
              <a:gdLst/>
              <a:ahLst/>
              <a:cxnLst/>
              <a:rect l="l" t="t" r="r" b="b"/>
              <a:pathLst>
                <a:path w="555551" h="756106" extrusionOk="0">
                  <a:moveTo>
                    <a:pt x="277776" y="9593"/>
                  </a:moveTo>
                  <a:cubicBezTo>
                    <a:pt x="317648" y="32166"/>
                    <a:pt x="349545" y="87932"/>
                    <a:pt x="349545" y="133741"/>
                  </a:cubicBezTo>
                  <a:lnTo>
                    <a:pt x="349545" y="336228"/>
                  </a:lnTo>
                  <a:lnTo>
                    <a:pt x="483781" y="413239"/>
                  </a:lnTo>
                  <a:cubicBezTo>
                    <a:pt x="523653" y="435812"/>
                    <a:pt x="555551" y="491579"/>
                    <a:pt x="555551" y="537387"/>
                  </a:cubicBezTo>
                  <a:cubicBezTo>
                    <a:pt x="555551" y="583196"/>
                    <a:pt x="523653" y="601785"/>
                    <a:pt x="483781" y="579212"/>
                  </a:cubicBezTo>
                  <a:lnTo>
                    <a:pt x="349545" y="502201"/>
                  </a:lnTo>
                  <a:lnTo>
                    <a:pt x="349545" y="704688"/>
                  </a:lnTo>
                  <a:cubicBezTo>
                    <a:pt x="349545" y="750496"/>
                    <a:pt x="317648" y="769085"/>
                    <a:pt x="277776" y="746513"/>
                  </a:cubicBezTo>
                  <a:cubicBezTo>
                    <a:pt x="237903" y="723941"/>
                    <a:pt x="206006" y="668174"/>
                    <a:pt x="206006" y="622365"/>
                  </a:cubicBezTo>
                  <a:lnTo>
                    <a:pt x="206006" y="419878"/>
                  </a:lnTo>
                  <a:lnTo>
                    <a:pt x="71770" y="342867"/>
                  </a:lnTo>
                  <a:cubicBezTo>
                    <a:pt x="31898" y="320295"/>
                    <a:pt x="0" y="264528"/>
                    <a:pt x="0" y="218719"/>
                  </a:cubicBezTo>
                  <a:cubicBezTo>
                    <a:pt x="0" y="172911"/>
                    <a:pt x="31898" y="154322"/>
                    <a:pt x="71770" y="176894"/>
                  </a:cubicBezTo>
                  <a:lnTo>
                    <a:pt x="206006" y="253905"/>
                  </a:lnTo>
                  <a:lnTo>
                    <a:pt x="206006" y="51418"/>
                  </a:lnTo>
                  <a:cubicBezTo>
                    <a:pt x="206006" y="5610"/>
                    <a:pt x="237903" y="-12979"/>
                    <a:pt x="277776" y="95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230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231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23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233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GOVERNANCE, RISK &amp; AUTOMATION</a:t>
            </a:r>
            <a:endParaRPr/>
          </a:p>
        </p:txBody>
      </p:sp>
      <p:sp>
        <p:nvSpPr>
          <p:cNvPr id="265" name="Google Shape;265;p19"/>
          <p:cNvSpPr txBox="1">
            <a:spLocks noGrp="1"/>
          </p:cNvSpPr>
          <p:nvPr>
            <p:ph type="body" idx="1"/>
          </p:nvPr>
        </p:nvSpPr>
        <p:spPr>
          <a:xfrm>
            <a:off x="855300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Governance &amp; Risk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GDPR, SOX, ITIL compliance. Risk assessment, vulnerability management, and security policy design.</a:t>
            </a:r>
            <a:endParaRPr/>
          </a:p>
        </p:txBody>
      </p:sp>
      <p:sp>
        <p:nvSpPr>
          <p:cNvPr id="266" name="Google Shape;266;p19"/>
          <p:cNvSpPr txBox="1">
            <a:spLocks noGrp="1"/>
          </p:cNvSpPr>
          <p:nvPr>
            <p:ph type="body" idx="2"/>
          </p:nvPr>
        </p:nvSpPr>
        <p:spPr>
          <a:xfrm>
            <a:off x="3414196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Analytics &amp; Automation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PowerShell, Python, SQL scripting. Excel, Power BI, Tableau, LLMs, Power Automate &amp; AI Agents.</a:t>
            </a:r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body" idx="3"/>
          </p:nvPr>
        </p:nvSpPr>
        <p:spPr>
          <a:xfrm>
            <a:off x="5973091" y="1353950"/>
            <a:ext cx="2315700" cy="341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Predictive Modeling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88% predictive model accuracy. Automated reporting with +10% accuracy gain through data validation.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264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265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266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267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26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0"/>
          <p:cNvPicPr preferRelativeResize="0"/>
          <p:nvPr/>
        </p:nvPicPr>
        <p:blipFill rotWithShape="1">
          <a:blip r:embed="rId3">
            <a:alphaModFix/>
          </a:blip>
          <a:srcRect l="20000"/>
          <a:stretch/>
        </p:blipFill>
        <p:spPr>
          <a:xfrm>
            <a:off x="6096000" y="0"/>
            <a:ext cx="304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43485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OPERATIONS DASHBOARD</a:t>
            </a:r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body" idx="1"/>
          </p:nvPr>
        </p:nvSpPr>
        <p:spPr>
          <a:xfrm>
            <a:off x="855300" y="1353948"/>
            <a:ext cx="43485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Executive view built at RightPath Insurance to monitor security posture, incidents, and compliance across the enterprise.</a:t>
            </a:r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273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274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275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27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>
            <a:spLocks noGrp="1"/>
          </p:cNvSpPr>
          <p:nvPr>
            <p:ph type="title" idx="4294967295"/>
          </p:nvPr>
        </p:nvSpPr>
        <p:spPr>
          <a:xfrm>
            <a:off x="855300" y="1881750"/>
            <a:ext cx="2582100" cy="138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chemeClr val="accent2"/>
                </a:solidFill>
              </a:rPr>
              <a:t>99.8% Uptime</a:t>
            </a:r>
            <a:endParaRPr b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CRITICAL BREACHES</a:t>
            </a:r>
            <a:endParaRPr/>
          </a:p>
        </p:txBody>
      </p:sp>
      <p:sp>
        <p:nvSpPr>
          <p:cNvPr id="282" name="Google Shape;282;p21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281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28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288" name="Google Shape;288;p22"/>
          <p:cNvGrpSpPr/>
          <p:nvPr/>
        </p:nvGrpSpPr>
        <p:grpSpPr>
          <a:xfrm>
            <a:off x="855292" y="836003"/>
            <a:ext cx="4036590" cy="3941676"/>
            <a:chOff x="855292" y="912203"/>
            <a:chExt cx="4036590" cy="3941676"/>
          </a:xfrm>
        </p:grpSpPr>
        <p:sp>
          <p:nvSpPr>
            <p:cNvPr id="289" name="Google Shape;289;p22"/>
            <p:cNvSpPr/>
            <p:nvPr/>
          </p:nvSpPr>
          <p:spPr>
            <a:xfrm rot="-6597333">
              <a:off x="2895551" y="4185127"/>
              <a:ext cx="586303" cy="586303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 rot="-6599386">
              <a:off x="917321" y="1642633"/>
              <a:ext cx="440541" cy="440541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 rot="-6598839">
              <a:off x="1486366" y="2582084"/>
              <a:ext cx="1199287" cy="1199287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 rot="-6598620">
              <a:off x="2973641" y="1148863"/>
              <a:ext cx="1681581" cy="1681581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 rot="-6597866">
              <a:off x="1260554" y="2443316"/>
              <a:ext cx="629106" cy="629106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 rot="-6597701">
              <a:off x="1866350" y="1348918"/>
              <a:ext cx="274172" cy="274172"/>
            </a:xfrm>
            <a:prstGeom prst="ellipse">
              <a:avLst/>
            </a:pr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5" name="Google Shape;295;p22"/>
          <p:cNvSpPr/>
          <p:nvPr/>
        </p:nvSpPr>
        <p:spPr>
          <a:xfrm>
            <a:off x="3045919" y="1974666"/>
            <a:ext cx="2440200" cy="2440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228600" dist="50800" dir="5400000" algn="tl" rotWithShape="0">
              <a:schemeClr val="lt1">
                <a:alpha val="549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3334675" y="2663175"/>
            <a:ext cx="18627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Endpoint Protection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2165662" y="1532953"/>
            <a:ext cx="1423800" cy="14238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50800" dir="5400000" algn="tl" rotWithShape="0">
              <a:schemeClr val="lt1">
                <a:alpha val="549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2393679" y="1772503"/>
            <a:ext cx="96780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Access Governance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1824478" y="3097189"/>
            <a:ext cx="1498800" cy="1498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8600" dist="50800" dir="5400000" algn="tl" rotWithShape="0">
              <a:schemeClr val="lt1">
                <a:alpha val="549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2037251" y="3374250"/>
            <a:ext cx="107340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Threat Monitoring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4486309" y="1349393"/>
            <a:ext cx="1030262" cy="103026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8600" dist="50800" dir="5400000" algn="tl" rotWithShape="0">
              <a:schemeClr val="lt1">
                <a:alpha val="549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4651302" y="1522731"/>
            <a:ext cx="700300" cy="68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Data Loss Prevention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03" name="Google Shape;303;p22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FRAMEWORK</a:t>
            </a:r>
            <a:br>
              <a:rPr lang="en"/>
            </a:br>
            <a:r>
              <a:rPr lang="en"/>
              <a:t/>
            </a:r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287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288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289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290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291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29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METRICS</a:t>
            </a:r>
            <a:endParaRPr/>
          </a:p>
        </p:txBody>
      </p:sp>
      <p:graphicFrame>
        <p:nvGraphicFramePr>
          <p:cNvPr id="309" name="Google Shape;309;p23"/>
          <p:cNvGraphicFramePr/>
          <p:nvPr/>
        </p:nvGraphicFramePr>
        <p:xfrm>
          <a:off x="855300" y="1564481"/>
          <a:ext cx="7433400" cy="2832400"/>
        </p:xfrm>
        <a:graphic>
          <a:graphicData uri="http://schemas.openxmlformats.org/drawingml/2006/table">
            <a:tbl>
              <a:tblPr>
                <a:noFill/>
                <a:tableStyleId>{511C7EFF-B079-44CD-85B6-E6D3598932AC}</a:tableStyleId>
              </a:tblPr>
              <a:tblGrid>
                <a:gridCol w="185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Metric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Value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Status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Uptime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99.8%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Achieved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Threats Mitigated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Resolved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RBAC Coverage</a:t>
                      </a:r>
                      <a:endParaRPr sz="1100">
                        <a:solidFill>
                          <a:schemeClr val="accent2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100%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Complete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16</a:t>
                      </a:r>
                      <a:endParaRPr sz="18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0" name="Google Shape;310;p23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308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309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3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/>
          <p:nvPr/>
        </p:nvSpPr>
        <p:spPr>
          <a:xfrm>
            <a:off x="812525" y="539284"/>
            <a:ext cx="8171736" cy="389283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4294967295"/>
          </p:nvPr>
        </p:nvSpPr>
        <p:spPr>
          <a:xfrm>
            <a:off x="855300" y="2373600"/>
            <a:ext cx="978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</a:t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2627600" y="1654025"/>
            <a:ext cx="604800" cy="202500"/>
          </a:xfrm>
          <a:prstGeom prst="wedgeRectCallout">
            <a:avLst>
              <a:gd name="adj1" fmla="val -61797"/>
              <a:gd name="adj2" fmla="val -15037"/>
            </a:avLst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RightPath Insurance</a:t>
            </a:r>
            <a:endParaRPr sz="8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18" name="Google Shape;318;p24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body" idx="4294967295"/>
          </p:nvPr>
        </p:nvSpPr>
        <p:spPr>
          <a:xfrm>
            <a:off x="457200" y="4756975"/>
            <a:ext cx="77193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accent2"/>
                </a:solidFill>
              </a:rPr>
              <a:t>Greenville, SC  |  IT Operations Manager &amp; Business Analyst</a:t>
            </a:r>
            <a:endParaRPr sz="90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900" b="1">
              <a:solidFill>
                <a:schemeClr val="accent2"/>
              </a:solidFill>
            </a:endParaRPr>
          </a:p>
        </p:txBody>
      </p:sp>
      <p:grpSp>
        <p:nvGrpSpPr>
          <p:cNvPr id="320" name="Google Shape;320;p24"/>
          <p:cNvGrpSpPr/>
          <p:nvPr/>
        </p:nvGrpSpPr>
        <p:grpSpPr>
          <a:xfrm>
            <a:off x="1473403" y="1622642"/>
            <a:ext cx="123008" cy="265270"/>
            <a:chOff x="1473403" y="1622642"/>
            <a:chExt cx="123008" cy="265270"/>
          </a:xfrm>
        </p:grpSpPr>
        <p:sp>
          <p:nvSpPr>
            <p:cNvPr id="321" name="Google Shape;321;p24"/>
            <p:cNvSpPr/>
            <p:nvPr/>
          </p:nvSpPr>
          <p:spPr>
            <a:xfrm>
              <a:off x="1489956" y="1622642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1473403" y="1635069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4"/>
          <p:cNvGrpSpPr/>
          <p:nvPr/>
        </p:nvGrpSpPr>
        <p:grpSpPr>
          <a:xfrm>
            <a:off x="3083853" y="3276517"/>
            <a:ext cx="123008" cy="265270"/>
            <a:chOff x="2931453" y="3124117"/>
            <a:chExt cx="123008" cy="265270"/>
          </a:xfrm>
        </p:grpSpPr>
        <p:sp>
          <p:nvSpPr>
            <p:cNvPr id="324" name="Google Shape;324;p24"/>
            <p:cNvSpPr/>
            <p:nvPr/>
          </p:nvSpPr>
          <p:spPr>
            <a:xfrm>
              <a:off x="2948006" y="3124117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2931453" y="3136544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24"/>
          <p:cNvGrpSpPr/>
          <p:nvPr/>
        </p:nvGrpSpPr>
        <p:grpSpPr>
          <a:xfrm>
            <a:off x="4179328" y="1418692"/>
            <a:ext cx="123008" cy="265270"/>
            <a:chOff x="3874528" y="1113892"/>
            <a:chExt cx="123008" cy="265270"/>
          </a:xfrm>
        </p:grpSpPr>
        <p:sp>
          <p:nvSpPr>
            <p:cNvPr id="327" name="Google Shape;327;p24"/>
            <p:cNvSpPr/>
            <p:nvPr/>
          </p:nvSpPr>
          <p:spPr>
            <a:xfrm>
              <a:off x="3891081" y="1113892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3874528" y="1126319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24"/>
          <p:cNvGrpSpPr/>
          <p:nvPr/>
        </p:nvGrpSpPr>
        <p:grpSpPr>
          <a:xfrm>
            <a:off x="4908753" y="3541767"/>
            <a:ext cx="123008" cy="265270"/>
            <a:chOff x="4451553" y="3084567"/>
            <a:chExt cx="123008" cy="265270"/>
          </a:xfrm>
        </p:grpSpPr>
        <p:sp>
          <p:nvSpPr>
            <p:cNvPr id="330" name="Google Shape;330;p24"/>
            <p:cNvSpPr/>
            <p:nvPr/>
          </p:nvSpPr>
          <p:spPr>
            <a:xfrm>
              <a:off x="4468106" y="3084567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4451553" y="3096994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24"/>
          <p:cNvGrpSpPr/>
          <p:nvPr/>
        </p:nvGrpSpPr>
        <p:grpSpPr>
          <a:xfrm>
            <a:off x="7046578" y="1934442"/>
            <a:ext cx="123008" cy="265270"/>
            <a:chOff x="6436978" y="1324842"/>
            <a:chExt cx="123008" cy="265270"/>
          </a:xfrm>
        </p:grpSpPr>
        <p:sp>
          <p:nvSpPr>
            <p:cNvPr id="333" name="Google Shape;333;p24"/>
            <p:cNvSpPr/>
            <p:nvPr/>
          </p:nvSpPr>
          <p:spPr>
            <a:xfrm>
              <a:off x="6453531" y="1324842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6436978" y="1337269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24"/>
          <p:cNvGrpSpPr/>
          <p:nvPr/>
        </p:nvGrpSpPr>
        <p:grpSpPr>
          <a:xfrm>
            <a:off x="7701553" y="3594517"/>
            <a:ext cx="123008" cy="265270"/>
            <a:chOff x="6939553" y="2832517"/>
            <a:chExt cx="123008" cy="265270"/>
          </a:xfrm>
        </p:grpSpPr>
        <p:sp>
          <p:nvSpPr>
            <p:cNvPr id="336" name="Google Shape;336;p24"/>
            <p:cNvSpPr/>
            <p:nvPr/>
          </p:nvSpPr>
          <p:spPr>
            <a:xfrm>
              <a:off x="6956106" y="2832517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896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rgbClr val="0E0918">
                <a:alpha val="1676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6939553" y="2844944"/>
              <a:ext cx="106454" cy="252843"/>
            </a:xfrm>
            <a:custGeom>
              <a:avLst/>
              <a:gdLst/>
              <a:ahLst/>
              <a:cxnLst/>
              <a:rect l="l" t="t" r="r" b="b"/>
              <a:pathLst>
                <a:path w="2129087" h="5056863" extrusionOk="0">
                  <a:moveTo>
                    <a:pt x="1064544" y="5056864"/>
                  </a:moveTo>
                  <a:cubicBezTo>
                    <a:pt x="1064544" y="5056864"/>
                    <a:pt x="2129087" y="3374075"/>
                    <a:pt x="2129087" y="2216417"/>
                  </a:cubicBezTo>
                  <a:cubicBezTo>
                    <a:pt x="2129087" y="1398700"/>
                    <a:pt x="1652577" y="461750"/>
                    <a:pt x="1064544" y="122656"/>
                  </a:cubicBezTo>
                  <a:cubicBezTo>
                    <a:pt x="476510" y="-216439"/>
                    <a:pt x="0" y="171702"/>
                    <a:pt x="0" y="989419"/>
                  </a:cubicBezTo>
                  <a:cubicBezTo>
                    <a:pt x="0" y="2136929"/>
                    <a:pt x="1064544" y="5056864"/>
                    <a:pt x="1064544" y="5056864"/>
                  </a:cubicBezTo>
                  <a:close/>
                  <a:moveTo>
                    <a:pt x="1064544" y="944601"/>
                  </a:moveTo>
                  <a:cubicBezTo>
                    <a:pt x="1323921" y="1094276"/>
                    <a:pt x="1534295" y="1506094"/>
                    <a:pt x="1534295" y="1865484"/>
                  </a:cubicBezTo>
                  <a:cubicBezTo>
                    <a:pt x="1534295" y="2224874"/>
                    <a:pt x="1323921" y="2393998"/>
                    <a:pt x="1064544" y="2244323"/>
                  </a:cubicBezTo>
                  <a:cubicBezTo>
                    <a:pt x="805167" y="2094648"/>
                    <a:pt x="594793" y="1682829"/>
                    <a:pt x="594793" y="1323440"/>
                  </a:cubicBezTo>
                  <a:cubicBezTo>
                    <a:pt x="594793" y="964050"/>
                    <a:pt x="805167" y="794926"/>
                    <a:pt x="1064544" y="944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315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316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317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318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319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3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 txBox="1">
            <a:spLocks noGrp="1"/>
          </p:cNvSpPr>
          <p:nvPr>
            <p:ph type="ctrTitle" idx="4294967295"/>
          </p:nvPr>
        </p:nvSpPr>
        <p:spPr>
          <a:xfrm>
            <a:off x="855300" y="1991850"/>
            <a:ext cx="74334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5"/>
                </a:solidFill>
              </a:rPr>
              <a:t>99.8%</a:t>
            </a:r>
            <a:endParaRPr sz="9600">
              <a:solidFill>
                <a:schemeClr val="accent5"/>
              </a:solidFill>
            </a:endParaRPr>
          </a:p>
        </p:txBody>
      </p:sp>
      <p:sp>
        <p:nvSpPr>
          <p:cNvPr id="343" name="Google Shape;343;p25"/>
          <p:cNvSpPr txBox="1">
            <a:spLocks noGrp="1"/>
          </p:cNvSpPr>
          <p:nvPr>
            <p:ph type="subTitle" idx="4294967295"/>
          </p:nvPr>
        </p:nvSpPr>
        <p:spPr>
          <a:xfrm>
            <a:off x="6811600" y="1991850"/>
            <a:ext cx="19305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Enterprise uptime maintained across hybrid cloud infrastructure</a:t>
            </a:r>
            <a:endParaRPr sz="2000"/>
          </a:p>
        </p:txBody>
      </p:sp>
      <p:sp>
        <p:nvSpPr>
          <p:cNvPr id="344" name="Google Shape;344;p25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342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343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34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>
            <a:spLocks noGrp="1"/>
          </p:cNvSpPr>
          <p:nvPr>
            <p:ph type="ctrTitle" idx="4294967295"/>
          </p:nvPr>
        </p:nvSpPr>
        <p:spPr>
          <a:xfrm>
            <a:off x="855300" y="809850"/>
            <a:ext cx="4313100" cy="89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6 MO</a:t>
            </a:r>
            <a:endParaRPr sz="4800"/>
          </a:p>
        </p:txBody>
      </p:sp>
      <p:sp>
        <p:nvSpPr>
          <p:cNvPr id="350" name="Google Shape;350;p26"/>
          <p:cNvSpPr txBox="1">
            <a:spLocks noGrp="1"/>
          </p:cNvSpPr>
          <p:nvPr>
            <p:ph type="subTitle" idx="4294967295"/>
          </p:nvPr>
        </p:nvSpPr>
        <p:spPr>
          <a:xfrm>
            <a:off x="855300" y="1487508"/>
            <a:ext cx="43131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Full security framework stood up from zero</a:t>
            </a:r>
            <a:endParaRPr sz="2000"/>
          </a:p>
        </p:txBody>
      </p:sp>
      <p:sp>
        <p:nvSpPr>
          <p:cNvPr id="351" name="Google Shape;351;p26"/>
          <p:cNvSpPr txBox="1">
            <a:spLocks noGrp="1"/>
          </p:cNvSpPr>
          <p:nvPr>
            <p:ph type="ctrTitle" idx="4294967295"/>
          </p:nvPr>
        </p:nvSpPr>
        <p:spPr>
          <a:xfrm>
            <a:off x="855300" y="3438743"/>
            <a:ext cx="4313100" cy="89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100%</a:t>
            </a:r>
            <a:endParaRPr sz="4800"/>
          </a:p>
        </p:txBody>
      </p:sp>
      <p:sp>
        <p:nvSpPr>
          <p:cNvPr id="352" name="Google Shape;352;p26"/>
          <p:cNvSpPr txBox="1">
            <a:spLocks noGrp="1"/>
          </p:cNvSpPr>
          <p:nvPr>
            <p:ph type="subTitle" idx="4294967295"/>
          </p:nvPr>
        </p:nvSpPr>
        <p:spPr>
          <a:xfrm>
            <a:off x="855300" y="4116400"/>
            <a:ext cx="43131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RBAC / least-privilege coverage across hybrid environment</a:t>
            </a:r>
            <a:endParaRPr sz="2000"/>
          </a:p>
        </p:txBody>
      </p:sp>
      <p:sp>
        <p:nvSpPr>
          <p:cNvPr id="353" name="Google Shape;353;p26"/>
          <p:cNvSpPr txBox="1">
            <a:spLocks noGrp="1"/>
          </p:cNvSpPr>
          <p:nvPr>
            <p:ph type="ctrTitle" idx="4294967295"/>
          </p:nvPr>
        </p:nvSpPr>
        <p:spPr>
          <a:xfrm>
            <a:off x="855300" y="2124296"/>
            <a:ext cx="4313100" cy="89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88%</a:t>
            </a:r>
            <a:endParaRPr sz="4800"/>
          </a:p>
        </p:txBody>
      </p:sp>
      <p:sp>
        <p:nvSpPr>
          <p:cNvPr id="354" name="Google Shape;354;p26"/>
          <p:cNvSpPr txBox="1">
            <a:spLocks noGrp="1"/>
          </p:cNvSpPr>
          <p:nvPr>
            <p:ph type="subTitle" idx="4294967295"/>
          </p:nvPr>
        </p:nvSpPr>
        <p:spPr>
          <a:xfrm>
            <a:off x="855300" y="2801954"/>
            <a:ext cx="43131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Predictive model accuracy delivered to stakeholders</a:t>
            </a:r>
            <a:endParaRPr sz="2000"/>
          </a:p>
        </p:txBody>
      </p:sp>
      <p:sp>
        <p:nvSpPr>
          <p:cNvPr id="355" name="Google Shape;355;p26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821C6E0-D628-1045-909A-C4A8E9F1A2C5}"/>
              </a:ext>
            </a:extLst>
          </p:cNvPr>
          <p:cNvGrpSpPr/>
          <p:nvPr/>
        </p:nvGrpSpPr>
        <p:grpSpPr>
          <a:xfrm>
            <a:off x="5274684" y="918580"/>
            <a:ext cx="3869316" cy="4436065"/>
            <a:chOff x="5419407" y="3281869"/>
            <a:chExt cx="743968" cy="852939"/>
          </a:xfrm>
        </p:grpSpPr>
        <p:sp>
          <p:nvSpPr>
            <p:cNvPr id="52" name="Google Shape;1068;p46">
              <a:extLst>
                <a:ext uri="{FF2B5EF4-FFF2-40B4-BE49-F238E27FC236}">
                  <a16:creationId xmlns:a16="http://schemas.microsoft.com/office/drawing/2014/main" id="{B93F5133-5C8E-934B-B826-EBAC0BE2DC05}"/>
                </a:ext>
              </a:extLst>
            </p:cNvPr>
            <p:cNvSpPr/>
            <p:nvPr/>
          </p:nvSpPr>
          <p:spPr>
            <a:xfrm>
              <a:off x="5419407" y="3621745"/>
              <a:ext cx="657536" cy="466127"/>
            </a:xfrm>
            <a:custGeom>
              <a:avLst/>
              <a:gdLst/>
              <a:ahLst/>
              <a:cxnLst/>
              <a:rect l="l" t="t" r="r" b="b"/>
              <a:pathLst>
                <a:path w="6575358" h="4661273" extrusionOk="0">
                  <a:moveTo>
                    <a:pt x="821939" y="267047"/>
                  </a:moveTo>
                  <a:cubicBezTo>
                    <a:pt x="148314" y="-318021"/>
                    <a:pt x="53758" y="239450"/>
                    <a:pt x="8896" y="247729"/>
                  </a:cubicBezTo>
                  <a:cubicBezTo>
                    <a:pt x="8896" y="247729"/>
                    <a:pt x="-11120" y="382267"/>
                    <a:pt x="8896" y="872814"/>
                  </a:cubicBezTo>
                  <a:lnTo>
                    <a:pt x="6575358" y="4661273"/>
                  </a:lnTo>
                  <a:lnTo>
                    <a:pt x="6575358" y="1995346"/>
                  </a:lnTo>
                  <a:cubicBezTo>
                    <a:pt x="5828573" y="658933"/>
                    <a:pt x="5334398" y="-274555"/>
                    <a:pt x="4848504" y="156657"/>
                  </a:cubicBezTo>
                  <a:cubicBezTo>
                    <a:pt x="4006473" y="902482"/>
                    <a:pt x="3596501" y="1403378"/>
                    <a:pt x="2595036" y="368469"/>
                  </a:cubicBezTo>
                  <a:cubicBezTo>
                    <a:pt x="2001473" y="-244888"/>
                    <a:pt x="1630841" y="969406"/>
                    <a:pt x="821939" y="26704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9607"/>
                    <a:alpha val="2980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13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69;p46">
              <a:extLst>
                <a:ext uri="{FF2B5EF4-FFF2-40B4-BE49-F238E27FC236}">
                  <a16:creationId xmlns:a16="http://schemas.microsoft.com/office/drawing/2014/main" id="{3AC24FBA-4ED8-8245-A6BA-5C9E0A28A55E}"/>
                </a:ext>
              </a:extLst>
            </p:cNvPr>
            <p:cNvSpPr/>
            <p:nvPr/>
          </p:nvSpPr>
          <p:spPr>
            <a:xfrm>
              <a:off x="5505839" y="3664023"/>
              <a:ext cx="657536" cy="470785"/>
            </a:xfrm>
            <a:custGeom>
              <a:avLst/>
              <a:gdLst/>
              <a:ahLst/>
              <a:cxnLst/>
              <a:rect l="l" t="t" r="r" b="b"/>
              <a:pathLst>
                <a:path w="6575357" h="4707850" extrusionOk="0">
                  <a:moveTo>
                    <a:pt x="822629" y="313625"/>
                  </a:moveTo>
                  <a:cubicBezTo>
                    <a:pt x="149004" y="-271443"/>
                    <a:pt x="54448" y="285338"/>
                    <a:pt x="8896" y="294307"/>
                  </a:cubicBezTo>
                  <a:cubicBezTo>
                    <a:pt x="8896" y="294307"/>
                    <a:pt x="-11120" y="428845"/>
                    <a:pt x="8896" y="919392"/>
                  </a:cubicBezTo>
                  <a:lnTo>
                    <a:pt x="6575358" y="4707851"/>
                  </a:lnTo>
                  <a:lnTo>
                    <a:pt x="6575358" y="2041924"/>
                  </a:lnTo>
                  <a:cubicBezTo>
                    <a:pt x="5512466" y="499219"/>
                    <a:pt x="4811924" y="786234"/>
                    <a:pt x="4204557" y="1009085"/>
                  </a:cubicBezTo>
                  <a:cubicBezTo>
                    <a:pt x="3609614" y="1227105"/>
                    <a:pt x="3391514" y="771745"/>
                    <a:pt x="2638518" y="122512"/>
                  </a:cubicBezTo>
                  <a:cubicBezTo>
                    <a:pt x="2019418" y="-411501"/>
                    <a:pt x="1631531" y="1015984"/>
                    <a:pt x="822629" y="31362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9607"/>
                    <a:alpha val="2980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13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70;p46">
              <a:extLst>
                <a:ext uri="{FF2B5EF4-FFF2-40B4-BE49-F238E27FC236}">
                  <a16:creationId xmlns:a16="http://schemas.microsoft.com/office/drawing/2014/main" id="{96A492FF-83E4-294B-930B-8514120432DA}"/>
                </a:ext>
              </a:extLst>
            </p:cNvPr>
            <p:cNvSpPr/>
            <p:nvPr/>
          </p:nvSpPr>
          <p:spPr>
            <a:xfrm>
              <a:off x="5932557" y="3619063"/>
              <a:ext cx="14356" cy="21562"/>
            </a:xfrm>
            <a:custGeom>
              <a:avLst/>
              <a:gdLst/>
              <a:ahLst/>
              <a:cxnLst/>
              <a:rect l="l" t="t" r="r" b="b"/>
              <a:pathLst>
                <a:path w="143559" h="215617" extrusionOk="0">
                  <a:moveTo>
                    <a:pt x="143559" y="149060"/>
                  </a:moveTo>
                  <a:cubicBezTo>
                    <a:pt x="143559" y="93865"/>
                    <a:pt x="111120" y="31080"/>
                    <a:pt x="71780" y="8312"/>
                  </a:cubicBezTo>
                  <a:cubicBezTo>
                    <a:pt x="31749" y="-14456"/>
                    <a:pt x="0" y="11072"/>
                    <a:pt x="0" y="66267"/>
                  </a:cubicBezTo>
                  <a:cubicBezTo>
                    <a:pt x="0" y="121463"/>
                    <a:pt x="32439" y="184247"/>
                    <a:pt x="71780" y="207015"/>
                  </a:cubicBezTo>
                  <a:cubicBezTo>
                    <a:pt x="111120" y="230473"/>
                    <a:pt x="143559" y="204255"/>
                    <a:pt x="143559" y="1490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071;p46">
              <a:extLst>
                <a:ext uri="{FF2B5EF4-FFF2-40B4-BE49-F238E27FC236}">
                  <a16:creationId xmlns:a16="http://schemas.microsoft.com/office/drawing/2014/main" id="{85A43A36-855C-A74C-A88D-734B7B07382A}"/>
                </a:ext>
              </a:extLst>
            </p:cNvPr>
            <p:cNvSpPr/>
            <p:nvPr/>
          </p:nvSpPr>
          <p:spPr>
            <a:xfrm>
              <a:off x="5742144" y="3656207"/>
              <a:ext cx="14908" cy="20998"/>
            </a:xfrm>
            <a:custGeom>
              <a:avLst/>
              <a:gdLst/>
              <a:ahLst/>
              <a:cxnLst/>
              <a:rect l="l" t="t" r="r" b="b"/>
              <a:pathLst>
                <a:path w="149080" h="209976" extrusionOk="0">
                  <a:moveTo>
                    <a:pt x="149081" y="147765"/>
                  </a:moveTo>
                  <a:cubicBezTo>
                    <a:pt x="149081" y="94639"/>
                    <a:pt x="115952" y="32544"/>
                    <a:pt x="74541" y="9087"/>
                  </a:cubicBezTo>
                  <a:cubicBezTo>
                    <a:pt x="33129" y="-14371"/>
                    <a:pt x="0" y="9087"/>
                    <a:pt x="0" y="62212"/>
                  </a:cubicBezTo>
                  <a:cubicBezTo>
                    <a:pt x="0" y="115337"/>
                    <a:pt x="33129" y="177432"/>
                    <a:pt x="74541" y="200890"/>
                  </a:cubicBezTo>
                  <a:cubicBezTo>
                    <a:pt x="115262" y="224348"/>
                    <a:pt x="149081" y="200890"/>
                    <a:pt x="149081" y="1477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72;p46">
              <a:extLst>
                <a:ext uri="{FF2B5EF4-FFF2-40B4-BE49-F238E27FC236}">
                  <a16:creationId xmlns:a16="http://schemas.microsoft.com/office/drawing/2014/main" id="{4B93CDFD-74C4-5D42-A2DC-8F7483C7E160}"/>
                </a:ext>
              </a:extLst>
            </p:cNvPr>
            <p:cNvSpPr/>
            <p:nvPr/>
          </p:nvSpPr>
          <p:spPr>
            <a:xfrm>
              <a:off x="5901039" y="3281869"/>
              <a:ext cx="127409" cy="323789"/>
            </a:xfrm>
            <a:custGeom>
              <a:avLst/>
              <a:gdLst/>
              <a:ahLst/>
              <a:cxnLst/>
              <a:rect l="l" t="t" r="r" b="b"/>
              <a:pathLst>
                <a:path w="1274089" h="3237886" extrusionOk="0">
                  <a:moveTo>
                    <a:pt x="0" y="0"/>
                  </a:moveTo>
                  <a:lnTo>
                    <a:pt x="1274090" y="734786"/>
                  </a:lnTo>
                  <a:lnTo>
                    <a:pt x="1274090" y="3237887"/>
                  </a:lnTo>
                  <a:lnTo>
                    <a:pt x="0" y="2503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73;p46">
              <a:extLst>
                <a:ext uri="{FF2B5EF4-FFF2-40B4-BE49-F238E27FC236}">
                  <a16:creationId xmlns:a16="http://schemas.microsoft.com/office/drawing/2014/main" id="{4B722715-C2F6-E64D-8C4E-3BA59EE8AA23}"/>
                </a:ext>
              </a:extLst>
            </p:cNvPr>
            <p:cNvSpPr/>
            <p:nvPr/>
          </p:nvSpPr>
          <p:spPr>
            <a:xfrm>
              <a:off x="5876197" y="3303335"/>
              <a:ext cx="127478" cy="323789"/>
            </a:xfrm>
            <a:custGeom>
              <a:avLst/>
              <a:gdLst/>
              <a:ahLst/>
              <a:cxnLst/>
              <a:rect l="l" t="t" r="r" b="b"/>
              <a:pathLst>
                <a:path w="1274779" h="3237886" extrusionOk="0">
                  <a:moveTo>
                    <a:pt x="1274780" y="734786"/>
                  </a:moveTo>
                  <a:lnTo>
                    <a:pt x="690" y="0"/>
                  </a:lnTo>
                  <a:lnTo>
                    <a:pt x="0" y="2503101"/>
                  </a:lnTo>
                  <a:lnTo>
                    <a:pt x="550772" y="2820473"/>
                  </a:lnTo>
                  <a:lnTo>
                    <a:pt x="637735" y="2991578"/>
                  </a:lnTo>
                  <a:lnTo>
                    <a:pt x="724009" y="2921205"/>
                  </a:lnTo>
                  <a:lnTo>
                    <a:pt x="1274780" y="323788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74;p46">
              <a:extLst>
                <a:ext uri="{FF2B5EF4-FFF2-40B4-BE49-F238E27FC236}">
                  <a16:creationId xmlns:a16="http://schemas.microsoft.com/office/drawing/2014/main" id="{AC7CD621-AFC8-C14E-9E8C-F2328893CEF3}"/>
                </a:ext>
              </a:extLst>
            </p:cNvPr>
            <p:cNvSpPr/>
            <p:nvPr/>
          </p:nvSpPr>
          <p:spPr>
            <a:xfrm>
              <a:off x="5942742" y="3429035"/>
              <a:ext cx="44034" cy="66165"/>
            </a:xfrm>
            <a:custGeom>
              <a:avLst/>
              <a:gdLst/>
              <a:ahLst/>
              <a:cxnLst/>
              <a:rect l="l" t="t" r="r" b="b"/>
              <a:pathLst>
                <a:path w="440340" h="661652" extrusionOk="0">
                  <a:moveTo>
                    <a:pt x="440341" y="254588"/>
                  </a:moveTo>
                  <a:cubicBezTo>
                    <a:pt x="440341" y="334621"/>
                    <a:pt x="428608" y="407754"/>
                    <a:pt x="406522" y="469159"/>
                  </a:cubicBezTo>
                  <a:cubicBezTo>
                    <a:pt x="384436" y="530564"/>
                    <a:pt x="351997" y="578859"/>
                    <a:pt x="311276" y="611976"/>
                  </a:cubicBezTo>
                  <a:cubicBezTo>
                    <a:pt x="270554" y="645094"/>
                    <a:pt x="221551" y="661652"/>
                    <a:pt x="168406" y="661652"/>
                  </a:cubicBezTo>
                  <a:cubicBezTo>
                    <a:pt x="115262" y="661652"/>
                    <a:pt x="57286" y="644404"/>
                    <a:pt x="0" y="610597"/>
                  </a:cubicBezTo>
                  <a:lnTo>
                    <a:pt x="0" y="0"/>
                  </a:lnTo>
                  <a:lnTo>
                    <a:pt x="440341" y="254588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75;p46">
              <a:extLst>
                <a:ext uri="{FF2B5EF4-FFF2-40B4-BE49-F238E27FC236}">
                  <a16:creationId xmlns:a16="http://schemas.microsoft.com/office/drawing/2014/main" id="{CA12BCA7-74AE-BF46-8EB3-819F21C956B5}"/>
                </a:ext>
              </a:extLst>
            </p:cNvPr>
            <p:cNvSpPr/>
            <p:nvPr/>
          </p:nvSpPr>
          <p:spPr>
            <a:xfrm>
              <a:off x="5898768" y="3376677"/>
              <a:ext cx="44103" cy="113633"/>
            </a:xfrm>
            <a:custGeom>
              <a:avLst/>
              <a:gdLst/>
              <a:ahLst/>
              <a:cxnLst/>
              <a:rect l="l" t="t" r="r" b="b"/>
              <a:pathLst>
                <a:path w="441030" h="1136330" extrusionOk="0">
                  <a:moveTo>
                    <a:pt x="441031" y="1136331"/>
                  </a:moveTo>
                  <a:cubicBezTo>
                    <a:pt x="363730" y="1091484"/>
                    <a:pt x="287809" y="1019731"/>
                    <a:pt x="220861" y="927279"/>
                  </a:cubicBezTo>
                  <a:cubicBezTo>
                    <a:pt x="153912" y="834827"/>
                    <a:pt x="98007" y="725817"/>
                    <a:pt x="59356" y="610597"/>
                  </a:cubicBezTo>
                  <a:cubicBezTo>
                    <a:pt x="20706" y="495377"/>
                    <a:pt x="0" y="378087"/>
                    <a:pt x="0" y="271146"/>
                  </a:cubicBezTo>
                  <a:cubicBezTo>
                    <a:pt x="0" y="164206"/>
                    <a:pt x="20706" y="70374"/>
                    <a:pt x="59356" y="0"/>
                  </a:cubicBezTo>
                  <a:lnTo>
                    <a:pt x="441031" y="525734"/>
                  </a:lnTo>
                  <a:lnTo>
                    <a:pt x="441031" y="1136331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076;p46">
              <a:extLst>
                <a:ext uri="{FF2B5EF4-FFF2-40B4-BE49-F238E27FC236}">
                  <a16:creationId xmlns:a16="http://schemas.microsoft.com/office/drawing/2014/main" id="{F97AE8BE-BC2B-4242-A443-A7F6A432F5AE}"/>
                </a:ext>
              </a:extLst>
            </p:cNvPr>
            <p:cNvSpPr/>
            <p:nvPr/>
          </p:nvSpPr>
          <p:spPr>
            <a:xfrm>
              <a:off x="5904618" y="3363123"/>
              <a:ext cx="82271" cy="91555"/>
            </a:xfrm>
            <a:custGeom>
              <a:avLst/>
              <a:gdLst/>
              <a:ahLst/>
              <a:cxnLst/>
              <a:rect l="l" t="t" r="r" b="b"/>
              <a:pathLst>
                <a:path w="822705" h="915549" extrusionOk="0">
                  <a:moveTo>
                    <a:pt x="822706" y="915550"/>
                  </a:moveTo>
                  <a:cubicBezTo>
                    <a:pt x="822706" y="781012"/>
                    <a:pt x="790957" y="631985"/>
                    <a:pt x="731601" y="491237"/>
                  </a:cubicBezTo>
                  <a:cubicBezTo>
                    <a:pt x="672244" y="350489"/>
                    <a:pt x="589422" y="226300"/>
                    <a:pt x="496246" y="137298"/>
                  </a:cubicBezTo>
                  <a:cubicBezTo>
                    <a:pt x="402380" y="48296"/>
                    <a:pt x="302993" y="0"/>
                    <a:pt x="213268" y="0"/>
                  </a:cubicBezTo>
                  <a:cubicBezTo>
                    <a:pt x="123544" y="0"/>
                    <a:pt x="49003" y="47606"/>
                    <a:pt x="0" y="135918"/>
                  </a:cubicBezTo>
                  <a:lnTo>
                    <a:pt x="381675" y="661652"/>
                  </a:lnTo>
                  <a:lnTo>
                    <a:pt x="822706" y="9155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077;p46">
              <a:extLst>
                <a:ext uri="{FF2B5EF4-FFF2-40B4-BE49-F238E27FC236}">
                  <a16:creationId xmlns:a16="http://schemas.microsoft.com/office/drawing/2014/main" id="{94DC4B67-80DF-2344-9ED5-EF435CCA7EA6}"/>
                </a:ext>
              </a:extLst>
            </p:cNvPr>
            <p:cNvSpPr/>
            <p:nvPr/>
          </p:nvSpPr>
          <p:spPr>
            <a:xfrm>
              <a:off x="5892850" y="3492608"/>
              <a:ext cx="77646" cy="54160"/>
            </a:xfrm>
            <a:custGeom>
              <a:avLst/>
              <a:gdLst/>
              <a:ahLst/>
              <a:cxnLst/>
              <a:rect l="l" t="t" r="r" b="b"/>
              <a:pathLst>
                <a:path w="776463" h="541602" extrusionOk="0">
                  <a:moveTo>
                    <a:pt x="0" y="0"/>
                  </a:moveTo>
                  <a:lnTo>
                    <a:pt x="776463" y="447771"/>
                  </a:lnTo>
                  <a:lnTo>
                    <a:pt x="776463" y="541603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078;p46">
              <a:extLst>
                <a:ext uri="{FF2B5EF4-FFF2-40B4-BE49-F238E27FC236}">
                  <a16:creationId xmlns:a16="http://schemas.microsoft.com/office/drawing/2014/main" id="{DC36F33E-C286-5749-8C38-78BBF737B3A1}"/>
                </a:ext>
              </a:extLst>
            </p:cNvPr>
            <p:cNvSpPr/>
            <p:nvPr/>
          </p:nvSpPr>
          <p:spPr>
            <a:xfrm>
              <a:off x="5892850" y="3510909"/>
              <a:ext cx="94142" cy="63681"/>
            </a:xfrm>
            <a:custGeom>
              <a:avLst/>
              <a:gdLst/>
              <a:ahLst/>
              <a:cxnLst/>
              <a:rect l="l" t="t" r="r" b="b"/>
              <a:pathLst>
                <a:path w="941418" h="636814" extrusionOk="0">
                  <a:moveTo>
                    <a:pt x="0" y="0"/>
                  </a:moveTo>
                  <a:lnTo>
                    <a:pt x="941419" y="542982"/>
                  </a:lnTo>
                  <a:lnTo>
                    <a:pt x="941419" y="636814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079;p46">
              <a:extLst>
                <a:ext uri="{FF2B5EF4-FFF2-40B4-BE49-F238E27FC236}">
                  <a16:creationId xmlns:a16="http://schemas.microsoft.com/office/drawing/2014/main" id="{68421109-41A2-4149-B559-F20C73D93297}"/>
                </a:ext>
              </a:extLst>
            </p:cNvPr>
            <p:cNvSpPr/>
            <p:nvPr/>
          </p:nvSpPr>
          <p:spPr>
            <a:xfrm>
              <a:off x="5892850" y="3529211"/>
              <a:ext cx="61013" cy="44570"/>
            </a:xfrm>
            <a:custGeom>
              <a:avLst/>
              <a:gdLst/>
              <a:ahLst/>
              <a:cxnLst/>
              <a:rect l="l" t="t" r="r" b="b"/>
              <a:pathLst>
                <a:path w="610127" h="445701" extrusionOk="0">
                  <a:moveTo>
                    <a:pt x="0" y="0"/>
                  </a:moveTo>
                  <a:lnTo>
                    <a:pt x="610128" y="351869"/>
                  </a:lnTo>
                  <a:lnTo>
                    <a:pt x="610128" y="445701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080;p46">
              <a:extLst>
                <a:ext uri="{FF2B5EF4-FFF2-40B4-BE49-F238E27FC236}">
                  <a16:creationId xmlns:a16="http://schemas.microsoft.com/office/drawing/2014/main" id="{9ED438A9-FB81-5745-8151-D7A1568703C2}"/>
                </a:ext>
              </a:extLst>
            </p:cNvPr>
            <p:cNvSpPr/>
            <p:nvPr/>
          </p:nvSpPr>
          <p:spPr>
            <a:xfrm>
              <a:off x="5710489" y="3319159"/>
              <a:ext cx="127409" cy="323789"/>
            </a:xfrm>
            <a:custGeom>
              <a:avLst/>
              <a:gdLst/>
              <a:ahLst/>
              <a:cxnLst/>
              <a:rect l="l" t="t" r="r" b="b"/>
              <a:pathLst>
                <a:path w="1274089" h="3237886" extrusionOk="0">
                  <a:moveTo>
                    <a:pt x="0" y="0"/>
                  </a:moveTo>
                  <a:lnTo>
                    <a:pt x="1274090" y="734786"/>
                  </a:lnTo>
                  <a:lnTo>
                    <a:pt x="1274090" y="3237887"/>
                  </a:lnTo>
                  <a:lnTo>
                    <a:pt x="0" y="2503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081;p46">
              <a:extLst>
                <a:ext uri="{FF2B5EF4-FFF2-40B4-BE49-F238E27FC236}">
                  <a16:creationId xmlns:a16="http://schemas.microsoft.com/office/drawing/2014/main" id="{35D39084-2A5E-F94F-8FBB-ECA9C2B7839B}"/>
                </a:ext>
              </a:extLst>
            </p:cNvPr>
            <p:cNvSpPr/>
            <p:nvPr/>
          </p:nvSpPr>
          <p:spPr>
            <a:xfrm>
              <a:off x="5685991" y="3340763"/>
              <a:ext cx="127478" cy="323789"/>
            </a:xfrm>
            <a:custGeom>
              <a:avLst/>
              <a:gdLst/>
              <a:ahLst/>
              <a:cxnLst/>
              <a:rect l="l" t="t" r="r" b="b"/>
              <a:pathLst>
                <a:path w="1274779" h="3237886" extrusionOk="0">
                  <a:moveTo>
                    <a:pt x="1274780" y="734786"/>
                  </a:moveTo>
                  <a:lnTo>
                    <a:pt x="690" y="0"/>
                  </a:lnTo>
                  <a:lnTo>
                    <a:pt x="0" y="2503791"/>
                  </a:lnTo>
                  <a:lnTo>
                    <a:pt x="551461" y="2821163"/>
                  </a:lnTo>
                  <a:lnTo>
                    <a:pt x="637735" y="2991578"/>
                  </a:lnTo>
                  <a:lnTo>
                    <a:pt x="724009" y="2921204"/>
                  </a:lnTo>
                  <a:lnTo>
                    <a:pt x="1274780" y="323788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  <a:alpha val="298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082;p46">
              <a:extLst>
                <a:ext uri="{FF2B5EF4-FFF2-40B4-BE49-F238E27FC236}">
                  <a16:creationId xmlns:a16="http://schemas.microsoft.com/office/drawing/2014/main" id="{1F33BEBB-932A-DF44-BD8B-79005F1955D5}"/>
                </a:ext>
              </a:extLst>
            </p:cNvPr>
            <p:cNvSpPr/>
            <p:nvPr/>
          </p:nvSpPr>
          <p:spPr>
            <a:xfrm>
              <a:off x="5752466" y="3466532"/>
              <a:ext cx="44103" cy="65613"/>
            </a:xfrm>
            <a:custGeom>
              <a:avLst/>
              <a:gdLst/>
              <a:ahLst/>
              <a:cxnLst/>
              <a:rect l="l" t="t" r="r" b="b"/>
              <a:pathLst>
                <a:path w="441031" h="656132" extrusionOk="0">
                  <a:moveTo>
                    <a:pt x="441031" y="254588"/>
                  </a:moveTo>
                  <a:cubicBezTo>
                    <a:pt x="441031" y="361528"/>
                    <a:pt x="420326" y="455360"/>
                    <a:pt x="381675" y="525734"/>
                  </a:cubicBezTo>
                  <a:cubicBezTo>
                    <a:pt x="343024" y="596108"/>
                    <a:pt x="287119" y="640954"/>
                    <a:pt x="220171" y="656132"/>
                  </a:cubicBezTo>
                  <a:lnTo>
                    <a:pt x="0" y="0"/>
                  </a:lnTo>
                  <a:lnTo>
                    <a:pt x="441031" y="254588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083;p46">
              <a:extLst>
                <a:ext uri="{FF2B5EF4-FFF2-40B4-BE49-F238E27FC236}">
                  <a16:creationId xmlns:a16="http://schemas.microsoft.com/office/drawing/2014/main" id="{88F836FA-32D6-D54B-9585-669FAB5414FE}"/>
                </a:ext>
              </a:extLst>
            </p:cNvPr>
            <p:cNvSpPr/>
            <p:nvPr/>
          </p:nvSpPr>
          <p:spPr>
            <a:xfrm>
              <a:off x="5721431" y="3466601"/>
              <a:ext cx="53214" cy="66087"/>
            </a:xfrm>
            <a:custGeom>
              <a:avLst/>
              <a:gdLst/>
              <a:ahLst/>
              <a:cxnLst/>
              <a:rect l="l" t="t" r="r" b="b"/>
              <a:pathLst>
                <a:path w="532135" h="660871" extrusionOk="0">
                  <a:moveTo>
                    <a:pt x="532136" y="655443"/>
                  </a:moveTo>
                  <a:cubicBezTo>
                    <a:pt x="447933" y="674071"/>
                    <a:pt x="350616" y="644404"/>
                    <a:pt x="253990" y="571960"/>
                  </a:cubicBezTo>
                  <a:cubicBezTo>
                    <a:pt x="158053" y="498827"/>
                    <a:pt x="68329" y="386366"/>
                    <a:pt x="0" y="251828"/>
                  </a:cubicBezTo>
                  <a:lnTo>
                    <a:pt x="311966" y="0"/>
                  </a:lnTo>
                  <a:lnTo>
                    <a:pt x="532136" y="655443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084;p46">
              <a:extLst>
                <a:ext uri="{FF2B5EF4-FFF2-40B4-BE49-F238E27FC236}">
                  <a16:creationId xmlns:a16="http://schemas.microsoft.com/office/drawing/2014/main" id="{F68D0A92-7731-1041-945E-31C5900B1570}"/>
                </a:ext>
              </a:extLst>
            </p:cNvPr>
            <p:cNvSpPr/>
            <p:nvPr/>
          </p:nvSpPr>
          <p:spPr>
            <a:xfrm>
              <a:off x="5708631" y="3400552"/>
              <a:ext cx="88068" cy="91624"/>
            </a:xfrm>
            <a:custGeom>
              <a:avLst/>
              <a:gdLst/>
              <a:ahLst/>
              <a:cxnLst/>
              <a:rect l="l" t="t" r="r" b="b"/>
              <a:pathLst>
                <a:path w="880681" h="916239" extrusionOk="0">
                  <a:moveTo>
                    <a:pt x="880682" y="916240"/>
                  </a:moveTo>
                  <a:cubicBezTo>
                    <a:pt x="880682" y="815509"/>
                    <a:pt x="862737" y="706498"/>
                    <a:pt x="828918" y="598178"/>
                  </a:cubicBezTo>
                  <a:cubicBezTo>
                    <a:pt x="794408" y="489857"/>
                    <a:pt x="745405" y="385676"/>
                    <a:pt x="685358" y="295294"/>
                  </a:cubicBezTo>
                  <a:cubicBezTo>
                    <a:pt x="625312" y="204912"/>
                    <a:pt x="555603" y="130399"/>
                    <a:pt x="483823" y="78653"/>
                  </a:cubicBezTo>
                  <a:cubicBezTo>
                    <a:pt x="411353" y="26908"/>
                    <a:pt x="338883" y="0"/>
                    <a:pt x="271935" y="0"/>
                  </a:cubicBezTo>
                  <a:cubicBezTo>
                    <a:pt x="204986" y="0"/>
                    <a:pt x="145630" y="26218"/>
                    <a:pt x="100078" y="77273"/>
                  </a:cubicBezTo>
                  <a:cubicBezTo>
                    <a:pt x="53835" y="128329"/>
                    <a:pt x="22776" y="202152"/>
                    <a:pt x="8282" y="292534"/>
                  </a:cubicBezTo>
                  <a:cubicBezTo>
                    <a:pt x="-5522" y="382917"/>
                    <a:pt x="-2071" y="486407"/>
                    <a:pt x="18635" y="594728"/>
                  </a:cubicBezTo>
                  <a:cubicBezTo>
                    <a:pt x="39341" y="703049"/>
                    <a:pt x="77301" y="812059"/>
                    <a:pt x="129065" y="912790"/>
                  </a:cubicBezTo>
                  <a:lnTo>
                    <a:pt x="441031" y="660962"/>
                  </a:lnTo>
                  <a:lnTo>
                    <a:pt x="880682" y="9162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085;p46">
              <a:extLst>
                <a:ext uri="{FF2B5EF4-FFF2-40B4-BE49-F238E27FC236}">
                  <a16:creationId xmlns:a16="http://schemas.microsoft.com/office/drawing/2014/main" id="{E6AB2160-6642-3941-9083-82414D72E258}"/>
                </a:ext>
              </a:extLst>
            </p:cNvPr>
            <p:cNvSpPr/>
            <p:nvPr/>
          </p:nvSpPr>
          <p:spPr>
            <a:xfrm>
              <a:off x="5702644" y="3530105"/>
              <a:ext cx="88137" cy="60232"/>
            </a:xfrm>
            <a:custGeom>
              <a:avLst/>
              <a:gdLst/>
              <a:ahLst/>
              <a:cxnLst/>
              <a:rect l="l" t="t" r="r" b="b"/>
              <a:pathLst>
                <a:path w="881371" h="602317" extrusionOk="0">
                  <a:moveTo>
                    <a:pt x="0" y="0"/>
                  </a:moveTo>
                  <a:lnTo>
                    <a:pt x="881372" y="508485"/>
                  </a:lnTo>
                  <a:lnTo>
                    <a:pt x="881372" y="602317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086;p46">
              <a:extLst>
                <a:ext uri="{FF2B5EF4-FFF2-40B4-BE49-F238E27FC236}">
                  <a16:creationId xmlns:a16="http://schemas.microsoft.com/office/drawing/2014/main" id="{BE5EDE7C-673A-E740-BC0B-931F6D6DAF97}"/>
                </a:ext>
              </a:extLst>
            </p:cNvPr>
            <p:cNvSpPr/>
            <p:nvPr/>
          </p:nvSpPr>
          <p:spPr>
            <a:xfrm>
              <a:off x="5702644" y="3548338"/>
              <a:ext cx="91519" cy="62232"/>
            </a:xfrm>
            <a:custGeom>
              <a:avLst/>
              <a:gdLst/>
              <a:ahLst/>
              <a:cxnLst/>
              <a:rect l="l" t="t" r="r" b="b"/>
              <a:pathLst>
                <a:path w="915191" h="622325" extrusionOk="0">
                  <a:moveTo>
                    <a:pt x="0" y="0"/>
                  </a:moveTo>
                  <a:lnTo>
                    <a:pt x="915191" y="528494"/>
                  </a:lnTo>
                  <a:lnTo>
                    <a:pt x="915191" y="622325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087;p46">
              <a:extLst>
                <a:ext uri="{FF2B5EF4-FFF2-40B4-BE49-F238E27FC236}">
                  <a16:creationId xmlns:a16="http://schemas.microsoft.com/office/drawing/2014/main" id="{E7066E60-596E-DB41-AAE5-08716DD92653}"/>
                </a:ext>
              </a:extLst>
            </p:cNvPr>
            <p:cNvSpPr/>
            <p:nvPr/>
          </p:nvSpPr>
          <p:spPr>
            <a:xfrm>
              <a:off x="5702644" y="3566639"/>
              <a:ext cx="61013" cy="44570"/>
            </a:xfrm>
            <a:custGeom>
              <a:avLst/>
              <a:gdLst/>
              <a:ahLst/>
              <a:cxnLst/>
              <a:rect l="l" t="t" r="r" b="b"/>
              <a:pathLst>
                <a:path w="610127" h="445700" extrusionOk="0">
                  <a:moveTo>
                    <a:pt x="0" y="0"/>
                  </a:moveTo>
                  <a:lnTo>
                    <a:pt x="610127" y="351869"/>
                  </a:lnTo>
                  <a:lnTo>
                    <a:pt x="610127" y="445701"/>
                  </a:lnTo>
                  <a:lnTo>
                    <a:pt x="0" y="93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349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350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35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352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353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35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53070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PROJECTS</a:t>
            </a:r>
            <a:endParaRPr/>
          </a:p>
        </p:txBody>
      </p:sp>
      <p:sp>
        <p:nvSpPr>
          <p:cNvPr id="382" name="Google Shape;382;p27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5632317" y="1723175"/>
            <a:ext cx="3305700" cy="6690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rPr>
              <a:t>03</a:t>
            </a:r>
            <a:endParaRPr>
              <a:solidFill>
                <a:schemeClr val="accen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6167068" y="2590525"/>
            <a:ext cx="2236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Secure Multi-Cloud Deployment — AWS + Azure infrastructure with IAM, RBAC, encryption, and least-privilege controls.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0" y="1723389"/>
            <a:ext cx="3546900" cy="669000"/>
          </a:xfrm>
          <a:prstGeom prst="homePlate">
            <a:avLst>
              <a:gd name="adj" fmla="val 50000"/>
            </a:avLst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rPr>
              <a:t>01</a:t>
            </a:r>
            <a:endParaRPr>
              <a:solidFill>
                <a:schemeClr val="accen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6" name="Google Shape;386;p27"/>
          <p:cNvSpPr txBox="1"/>
          <p:nvPr/>
        </p:nvSpPr>
        <p:spPr>
          <a:xfrm>
            <a:off x="655350" y="2590525"/>
            <a:ext cx="2236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Enterprise Security Framework — Architected endpoint, IDS/IPS, MDM, and access governance for startup in 6 months.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2944204" y="1723175"/>
            <a:ext cx="3305700" cy="6690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FFFFFF">
                  <a:alpha val="29803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rPr>
              <a:t>02</a:t>
            </a:r>
            <a:endParaRPr>
              <a:solidFill>
                <a:schemeClr val="accen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3478947" y="2590525"/>
            <a:ext cx="2236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CRM Secure Deployment — Complete CRM build with coding, development, maintenance, secure auth, encryption, RBAC.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381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38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383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384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385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38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PROJECTS &amp; ACHIEVEMENTS</a:t>
            </a:r>
            <a:endParaRPr/>
          </a:p>
        </p:txBody>
      </p:sp>
      <p:sp>
        <p:nvSpPr>
          <p:cNvPr id="394" name="Google Shape;394;p28"/>
          <p:cNvSpPr txBox="1">
            <a:spLocks noGrp="1"/>
          </p:cNvSpPr>
          <p:nvPr>
            <p:ph type="body" idx="1"/>
          </p:nvPr>
        </p:nvSpPr>
        <p:spPr>
          <a:xfrm>
            <a:off x="855300" y="13539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04 Executive Dashboards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Power BI dashboards for incidents, compliance, and sales metrics.</a:t>
            </a:r>
            <a:endParaRPr sz="1200"/>
          </a:p>
        </p:txBody>
      </p:sp>
      <p:sp>
        <p:nvSpPr>
          <p:cNvPr id="395" name="Google Shape;395;p28"/>
          <p:cNvSpPr txBox="1">
            <a:spLocks noGrp="1"/>
          </p:cNvSpPr>
          <p:nvPr>
            <p:ph type="body" idx="2"/>
          </p:nvPr>
        </p:nvSpPr>
        <p:spPr>
          <a:xfrm>
            <a:off x="3414199" y="13539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05 Incident Response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IR playbooks, remediation workflows, and KnowBe4 training.</a:t>
            </a:r>
            <a:endParaRPr sz="1200"/>
          </a:p>
        </p:txBody>
      </p:sp>
      <p:sp>
        <p:nvSpPr>
          <p:cNvPr id="396" name="Google Shape;396;p28"/>
          <p:cNvSpPr txBox="1">
            <a:spLocks noGrp="1"/>
          </p:cNvSpPr>
          <p:nvPr>
            <p:ph type="body" idx="3"/>
          </p:nvPr>
        </p:nvSpPr>
        <p:spPr>
          <a:xfrm>
            <a:off x="5973097" y="13539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06 IT Ticketing System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Built ticketing system for org-wide issue reporting and triage.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200"/>
          </a:p>
        </p:txBody>
      </p:sp>
      <p:sp>
        <p:nvSpPr>
          <p:cNvPr id="397" name="Google Shape;397;p28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98" name="Google Shape;398;p28"/>
          <p:cNvSpPr txBox="1">
            <a:spLocks noGrp="1"/>
          </p:cNvSpPr>
          <p:nvPr>
            <p:ph type="body" idx="1"/>
          </p:nvPr>
        </p:nvSpPr>
        <p:spPr>
          <a:xfrm>
            <a:off x="855300" y="29541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07 AI Agents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Power Automate AI Agents for HR, IT, and Sales departments.</a:t>
            </a:r>
            <a:endParaRPr sz="1200"/>
          </a:p>
        </p:txBody>
      </p:sp>
      <p:sp>
        <p:nvSpPr>
          <p:cNvPr id="399" name="Google Shape;399;p28"/>
          <p:cNvSpPr txBox="1">
            <a:spLocks noGrp="1"/>
          </p:cNvSpPr>
          <p:nvPr>
            <p:ph type="body" idx="2"/>
          </p:nvPr>
        </p:nvSpPr>
        <p:spPr>
          <a:xfrm>
            <a:off x="3414199" y="29541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Technical Proficiency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/>
              <a:t>Cloud Security 92%, IAM/RBAC 95%, Power BI 93%, Excel 95%.</a:t>
            </a:r>
            <a:endParaRPr sz="1200"/>
          </a:p>
        </p:txBody>
      </p:sp>
      <p:sp>
        <p:nvSpPr>
          <p:cNvPr id="400" name="Google Shape;400;p28"/>
          <p:cNvSpPr txBox="1">
            <a:spLocks noGrp="1"/>
          </p:cNvSpPr>
          <p:nvPr>
            <p:ph type="body" idx="3"/>
          </p:nvPr>
        </p:nvSpPr>
        <p:spPr>
          <a:xfrm>
            <a:off x="5973097" y="2954150"/>
            <a:ext cx="2315700" cy="139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Goals Surpassed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Zero critical incidents. 3 public clouds secured and administered.</a:t>
            </a:r>
            <a:endParaRPr sz="1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200"/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393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394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395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396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397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39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"/>
          <p:cNvSpPr txBox="1">
            <a:spLocks noGrp="1"/>
          </p:cNvSpPr>
          <p:nvPr>
            <p:ph type="body" idx="1"/>
          </p:nvPr>
        </p:nvSpPr>
        <p:spPr>
          <a:xfrm>
            <a:off x="855300" y="4406300"/>
            <a:ext cx="74334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Self-assessed proficiency across the production stack</a:t>
            </a:r>
            <a:endParaRPr/>
          </a:p>
        </p:txBody>
      </p:sp>
      <p:sp>
        <p:nvSpPr>
          <p:cNvPr id="406" name="Google Shape;406;p29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cxnSp>
        <p:nvCxnSpPr>
          <p:cNvPr id="407" name="Google Shape;407;p29"/>
          <p:cNvCxnSpPr/>
          <p:nvPr/>
        </p:nvCxnSpPr>
        <p:spPr>
          <a:xfrm>
            <a:off x="952500" y="1074701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29"/>
          <p:cNvCxnSpPr/>
          <p:nvPr/>
        </p:nvCxnSpPr>
        <p:spPr>
          <a:xfrm>
            <a:off x="952500" y="1784183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29"/>
          <p:cNvCxnSpPr/>
          <p:nvPr/>
        </p:nvCxnSpPr>
        <p:spPr>
          <a:xfrm>
            <a:off x="952500" y="2493664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29"/>
          <p:cNvCxnSpPr/>
          <p:nvPr/>
        </p:nvCxnSpPr>
        <p:spPr>
          <a:xfrm>
            <a:off x="952500" y="320314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29"/>
          <p:cNvCxnSpPr/>
          <p:nvPr/>
        </p:nvCxnSpPr>
        <p:spPr>
          <a:xfrm>
            <a:off x="952500" y="393452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29"/>
          <p:cNvSpPr txBox="1"/>
          <p:nvPr/>
        </p:nvSpPr>
        <p:spPr>
          <a:xfrm>
            <a:off x="952500" y="915950"/>
            <a:ext cx="3093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4000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3000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2000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1000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0</a:t>
            </a:r>
            <a:endParaRPr sz="10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1572782" y="2380937"/>
            <a:ext cx="233700" cy="15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9"/>
          <p:cNvSpPr/>
          <p:nvPr/>
        </p:nvSpPr>
        <p:spPr>
          <a:xfrm>
            <a:off x="1887026" y="1986874"/>
            <a:ext cx="233700" cy="194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9"/>
          <p:cNvSpPr/>
          <p:nvPr/>
        </p:nvSpPr>
        <p:spPr>
          <a:xfrm>
            <a:off x="2201270" y="2493664"/>
            <a:ext cx="2337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9"/>
          <p:cNvSpPr/>
          <p:nvPr/>
        </p:nvSpPr>
        <p:spPr>
          <a:xfrm>
            <a:off x="3325786" y="2694727"/>
            <a:ext cx="233700" cy="12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3640031" y="2096344"/>
            <a:ext cx="233700" cy="1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9"/>
          <p:cNvSpPr/>
          <p:nvPr/>
        </p:nvSpPr>
        <p:spPr>
          <a:xfrm>
            <a:off x="3954275" y="1229025"/>
            <a:ext cx="2337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9"/>
          <p:cNvSpPr/>
          <p:nvPr/>
        </p:nvSpPr>
        <p:spPr>
          <a:xfrm>
            <a:off x="5078791" y="2140120"/>
            <a:ext cx="233700" cy="179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5393035" y="1074577"/>
            <a:ext cx="233700" cy="286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9"/>
          <p:cNvSpPr/>
          <p:nvPr/>
        </p:nvSpPr>
        <p:spPr>
          <a:xfrm>
            <a:off x="5707280" y="2322562"/>
            <a:ext cx="2337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6831796" y="2753101"/>
            <a:ext cx="233700" cy="11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9"/>
          <p:cNvSpPr/>
          <p:nvPr/>
        </p:nvSpPr>
        <p:spPr>
          <a:xfrm>
            <a:off x="7146040" y="1293620"/>
            <a:ext cx="233700" cy="2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9"/>
          <p:cNvSpPr/>
          <p:nvPr/>
        </p:nvSpPr>
        <p:spPr>
          <a:xfrm>
            <a:off x="7460284" y="1607410"/>
            <a:ext cx="2337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405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406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407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408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409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4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"/>
          <p:cNvSpPr txBox="1">
            <a:spLocks noGrp="1"/>
          </p:cNvSpPr>
          <p:nvPr>
            <p:ph type="body" idx="4294967295"/>
          </p:nvPr>
        </p:nvSpPr>
        <p:spPr>
          <a:xfrm>
            <a:off x="855300" y="373650"/>
            <a:ext cx="16017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DATA CLEANING IN SQL</a:t>
            </a:r>
            <a:endParaRPr sz="2600"/>
          </a:p>
        </p:txBody>
      </p:sp>
      <p:sp>
        <p:nvSpPr>
          <p:cNvPr id="430" name="Google Shape;430;p30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pSp>
        <p:nvGrpSpPr>
          <p:cNvPr id="431" name="Google Shape;431;p30"/>
          <p:cNvGrpSpPr/>
          <p:nvPr/>
        </p:nvGrpSpPr>
        <p:grpSpPr>
          <a:xfrm>
            <a:off x="5962800" y="373572"/>
            <a:ext cx="2119546" cy="4396359"/>
            <a:chOff x="2547150" y="238125"/>
            <a:chExt cx="2525675" cy="5238750"/>
          </a:xfrm>
        </p:grpSpPr>
        <p:sp>
          <p:nvSpPr>
            <p:cNvPr id="432" name="Google Shape;432;p30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23786"/>
          <a:stretch/>
        </p:blipFill>
        <p:spPr>
          <a:xfrm>
            <a:off x="6009125" y="756087"/>
            <a:ext cx="2025525" cy="36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0"/>
          <p:cNvSpPr txBox="1">
            <a:spLocks noGrp="1"/>
          </p:cNvSpPr>
          <p:nvPr>
            <p:ph type="body" idx="4294967295"/>
          </p:nvPr>
        </p:nvSpPr>
        <p:spPr>
          <a:xfrm>
            <a:off x="2737000" y="373650"/>
            <a:ext cx="22824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/>
              <a:t>Cleaned Airbnb housing data in SQL. Standardized formats, removed duplicates, and parsed address fields for analysis.</a:t>
            </a:r>
            <a:endParaRPr sz="1800"/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429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430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43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432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433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4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443" name="Google Shape;443;p31"/>
          <p:cNvGrpSpPr/>
          <p:nvPr/>
        </p:nvGrpSpPr>
        <p:grpSpPr>
          <a:xfrm>
            <a:off x="5468902" y="465959"/>
            <a:ext cx="2736410" cy="4222433"/>
            <a:chOff x="2112475" y="238125"/>
            <a:chExt cx="3395050" cy="5238750"/>
          </a:xfrm>
        </p:grpSpPr>
        <p:sp>
          <p:nvSpPr>
            <p:cNvPr id="444" name="Google Shape;444;p31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8" name="Google Shape;4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488" y="839688"/>
            <a:ext cx="2597800" cy="346372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1"/>
          <p:cNvSpPr txBox="1">
            <a:spLocks noGrp="1"/>
          </p:cNvSpPr>
          <p:nvPr>
            <p:ph type="body" idx="4294967295"/>
          </p:nvPr>
        </p:nvSpPr>
        <p:spPr>
          <a:xfrm>
            <a:off x="855300" y="373650"/>
            <a:ext cx="16017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DATA EXPLORATION IN SQL</a:t>
            </a:r>
            <a:endParaRPr sz="2600"/>
          </a:p>
        </p:txBody>
      </p:sp>
      <p:sp>
        <p:nvSpPr>
          <p:cNvPr id="450" name="Google Shape;450;p31"/>
          <p:cNvSpPr txBox="1">
            <a:spLocks noGrp="1"/>
          </p:cNvSpPr>
          <p:nvPr>
            <p:ph type="body" idx="4294967295"/>
          </p:nvPr>
        </p:nvSpPr>
        <p:spPr>
          <a:xfrm>
            <a:off x="2737000" y="373650"/>
            <a:ext cx="22824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/>
              <a:t>Explored Covid-19 dataset using SQL. Analyzed infection rates, mortality trends, and vaccination data across regions.</a:t>
            </a:r>
            <a:endParaRPr sz="1800"/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442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443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44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445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446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44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2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grpSp>
        <p:nvGrpSpPr>
          <p:cNvPr id="456" name="Google Shape;456;p32"/>
          <p:cNvGrpSpPr/>
          <p:nvPr/>
        </p:nvGrpSpPr>
        <p:grpSpPr>
          <a:xfrm>
            <a:off x="4243174" y="1241129"/>
            <a:ext cx="4542205" cy="2661224"/>
            <a:chOff x="4243174" y="1241129"/>
            <a:chExt cx="4542205" cy="2661224"/>
          </a:xfrm>
        </p:grpSpPr>
        <p:sp>
          <p:nvSpPr>
            <p:cNvPr id="457" name="Google Shape;457;p32"/>
            <p:cNvSpPr/>
            <p:nvPr/>
          </p:nvSpPr>
          <p:spPr>
            <a:xfrm>
              <a:off x="4614624" y="1241129"/>
              <a:ext cx="3797910" cy="2542169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4243174" y="3832321"/>
              <a:ext cx="4542205" cy="70032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4243174" y="3776295"/>
              <a:ext cx="4541505" cy="56025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6177518" y="3776295"/>
              <a:ext cx="665106" cy="35016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1" name="Google Shape;461;p32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4750350" y="1387850"/>
            <a:ext cx="3530550" cy="22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>
            <a:spLocks noGrp="1"/>
          </p:cNvSpPr>
          <p:nvPr>
            <p:ph type="body" idx="4294967295"/>
          </p:nvPr>
        </p:nvSpPr>
        <p:spPr>
          <a:xfrm>
            <a:off x="855300" y="373650"/>
            <a:ext cx="16017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TABLEAU DASHBOARDS</a:t>
            </a:r>
            <a:endParaRPr sz="2600"/>
          </a:p>
        </p:txBody>
      </p:sp>
      <p:sp>
        <p:nvSpPr>
          <p:cNvPr id="463" name="Google Shape;463;p32"/>
          <p:cNvSpPr txBox="1">
            <a:spLocks noGrp="1"/>
          </p:cNvSpPr>
          <p:nvPr>
            <p:ph type="body" idx="4294967295"/>
          </p:nvPr>
        </p:nvSpPr>
        <p:spPr>
          <a:xfrm>
            <a:off x="2737000" y="373650"/>
            <a:ext cx="1842000" cy="43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/>
              <a:t>Interactive Tableau dashboards for Airbnb market analysis including pricing trends, location insights, and revenue visualization.</a:t>
            </a:r>
            <a:endParaRPr sz="1800"/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455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456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457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458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afterPrev">
                      <p:stCondLst>
                        <p:cond delay="120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500"/>
                            <p:tgtEl>
                              <p:spTgt spid="459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afterPrev">
                      <p:stCondLst>
                        <p:cond delay="150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500"/>
                            <p:tgtEl>
                              <p:spTgt spid="46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33"/>
          <p:cNvPicPr preferRelativeResize="0"/>
          <p:nvPr/>
        </p:nvPicPr>
        <p:blipFill>
          <a:blip r:embed="rId4">
            <a:alphaModFix amt="97000"/>
          </a:blip>
          <a:srcRect l="5670" r="6097"/>
          <a:stretch>
            <a:fillRect/>
          </a:stretch>
        </p:blipFill>
        <p:spPr>
          <a:xfrm>
            <a:off x="2651760" y="0"/>
            <a:ext cx="6583680" cy="50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3"/>
          <p:cNvSpPr txBox="1">
            <a:spLocks noGrp="1"/>
          </p:cNvSpPr>
          <p:nvPr>
            <p:ph type="ctrTitle" idx="4294967295"/>
          </p:nvPr>
        </p:nvSpPr>
        <p:spPr>
          <a:xfrm>
            <a:off x="855300" y="1991850"/>
            <a:ext cx="26067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THANKS!</a:t>
            </a:r>
            <a:endParaRPr sz="4800"/>
          </a:p>
        </p:txBody>
      </p:sp>
      <p:sp>
        <p:nvSpPr>
          <p:cNvPr id="470" name="Google Shape;470;p33"/>
          <p:cNvSpPr txBox="1">
            <a:spLocks noGrp="1"/>
          </p:cNvSpPr>
          <p:nvPr>
            <p:ph type="subTitle" idx="4294967295"/>
          </p:nvPr>
        </p:nvSpPr>
        <p:spPr>
          <a:xfrm>
            <a:off x="500000" y="3200000"/>
            <a:ext cx="3200000" cy="160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Tracey Scott
(864) 775-2929
traceysscott82@gmail.com
linkedin.com/in/traceysscott
cybertrace777.github.io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471" name="Google Shape;471;p33"/>
          <p:cNvSpPr txBox="1">
            <a:spLocks noGrp="1"/>
          </p:cNvSpPr>
          <p:nvPr>
            <p:ph type="sldNum" idx="12"/>
          </p:nvPr>
        </p:nvSpPr>
        <p:spPr>
          <a:xfrm>
            <a:off x="8693400" y="4749850"/>
            <a:ext cx="450600" cy="34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Prev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" dur="500"/>
                            <p:tgtEl>
                              <p:spTgt spid="468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afterPrev">
                      <p:stCondLst>
                        <p:cond delay="30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500"/>
                            <p:tgtEl>
                              <p:spTgt spid="469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afterPrev">
                      <p:stCondLst>
                        <p:cond delay="60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500"/>
                            <p:tgtEl>
                              <p:spTgt spid="470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Prev">
                      <p:stCondLst>
                        <p:cond delay="9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500"/>
                            <p:tgtEl>
                              <p:spTgt spid="47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ola template">
  <a:themeElements>
    <a:clrScheme name="Custom 347">
      <a:dk1>
        <a:srgbClr val="FFFFFF"/>
      </a:dk1>
      <a:lt1>
        <a:srgbClr val="0E0918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1743</Words>
  <Application>Microsoft Macintosh PowerPoint</Application>
  <PresentationFormat>On-screen Show (16:9)</PresentationFormat>
  <Paragraphs>369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Montserrat</vt:lpstr>
      <vt:lpstr>Calibri</vt:lpstr>
      <vt:lpstr>Barlow Light</vt:lpstr>
      <vt:lpstr>Barlow</vt:lpstr>
      <vt:lpstr>Minola template</vt:lpstr>
      <vt:lpstr>THIS IS YOUR PRESENTATION TITLE</vt:lpstr>
      <vt:lpstr>INSTRUCTIONS FOR USE</vt:lpstr>
      <vt:lpstr>HELLO!</vt:lpstr>
      <vt:lpstr>1 TRANSITION HEADLINE</vt:lpstr>
      <vt:lpstr>PowerPoint Presentation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PowerPoint Presentation</vt:lpstr>
      <vt:lpstr>THANKS!</vt:lpstr>
      <vt:lpstr>CREDITS</vt:lpstr>
      <vt:lpstr>PRESENTATION DESIGN</vt:lpstr>
      <vt:lpstr>2. EXTRA RESOURCES</vt:lpstr>
      <vt:lpstr>TIMELINE</vt:lpstr>
      <vt:lpstr>ROADMAP</vt:lpstr>
      <vt:lpstr>GANTT CHART</vt:lpstr>
      <vt:lpstr>SWOT ANALYSIS</vt:lpstr>
      <vt:lpstr>BUSINESS MODEL CANVAS</vt:lpstr>
      <vt:lpstr>FUNNEL</vt:lpstr>
      <vt:lpstr>TEAM PRESENTATION</vt:lpstr>
      <vt:lpstr>COMPETITOR MATRIX</vt:lpstr>
      <vt:lpstr>WEEKLY PLANNER</vt:lpstr>
      <vt:lpstr>EXTRA ILLUSTRATIONS</vt:lpstr>
      <vt:lpstr>PowerPoint Presentation</vt:lpstr>
      <vt:lpstr>DIAGRAMS AND INFOGRAPHICS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Scott, Tracey</cp:lastModifiedBy>
  <cp:revision>10</cp:revision>
  <dcterms:modified xsi:type="dcterms:W3CDTF">2026-04-09T23:32:13Z</dcterms:modified>
</cp:coreProperties>
</file>